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4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8755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600" b="1">
                <a:solidFill>
                  <a:srgbClr val="E1E4E8"/>
                </a:solidFill>
                <a:latin typeface="Aptos"/>
              </a:defRPr>
            </a:pPr>
            <a:r>
              <a:t>DIWALI SALES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42416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761488"/>
            <a:ext cx="96012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800" b="0">
                <a:solidFill>
                  <a:srgbClr val="C3C8D0"/>
                </a:solidFill>
                <a:latin typeface="Aptos"/>
              </a:defRPr>
            </a:pPr>
            <a:r>
              <a:t>Graph-by-graph insights &amp; business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166360"/>
            <a:ext cx="96012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300" b="0">
                <a:solidFill>
                  <a:srgbClr val="A0A7B1"/>
                </a:solidFill>
                <a:latin typeface="Aptos"/>
              </a:defRPr>
            </a:pPr>
            <a:r>
              <a:t>Python  •  Pandas  •  NumPy  •  Matplotlib  •  Seaborn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650992"/>
            <a:ext cx="45720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100" b="0">
                <a:solidFill>
                  <a:srgbClr val="9197A1"/>
                </a:solidFill>
                <a:latin typeface="Aptos"/>
              </a:defRPr>
            </a:pPr>
            <a:r>
              <a:t>End-to-end EDA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850" b="0">
                <a:solidFill>
                  <a:srgbClr val="5B626C"/>
                </a:solidFill>
                <a:latin typeface="Aptos"/>
              </a:defRPr>
            </a:pPr>
            <a:r>
              <a:t>Diwali Sales EDA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100" b="1">
                <a:solidFill>
                  <a:srgbClr val="D6433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2500" b="1">
                <a:solidFill>
                  <a:srgbClr val="1B1F24"/>
                </a:solidFill>
                <a:latin typeface="Aptos Display"/>
              </a:defRPr>
            </a:pPr>
            <a:r>
              <a:t>EDA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10241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150" b="0">
                <a:solidFill>
                  <a:srgbClr val="5B626C"/>
                </a:solidFill>
                <a:latin typeface="Aptos"/>
              </a:defRPr>
            </a:pPr>
            <a:r>
              <a:t>Understand the data → clean it → explore patterns → visualize → interpret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18520" cy="1097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47088"/>
            <a:ext cx="411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200" b="1">
                <a:solidFill>
                  <a:srgbClr val="D6433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04288"/>
            <a:ext cx="1554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800" b="1">
                <a:solidFill>
                  <a:srgbClr val="1B1F24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71800"/>
            <a:ext cx="1572768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300" b="0">
                <a:solidFill>
                  <a:srgbClr val="5B626C"/>
                </a:solidFill>
                <a:latin typeface="Aptos"/>
              </a:defRPr>
            </a:pPr>
            <a:r>
              <a:t>11,251 rows × 15 columns initially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27248" y="1847088"/>
            <a:ext cx="411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200" b="1">
                <a:solidFill>
                  <a:srgbClr val="D6433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304288"/>
            <a:ext cx="1554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800" b="1">
                <a:solidFill>
                  <a:srgbClr val="1B1F24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971800"/>
            <a:ext cx="1572768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300" b="0">
                <a:solidFill>
                  <a:srgbClr val="5B626C"/>
                </a:solidFill>
                <a:latin typeface="Aptos"/>
              </a:defRPr>
            </a:pPr>
            <a:r>
              <a:t>Removed 2 unnecessary columns and 12 null Amount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59" y="1847088"/>
            <a:ext cx="411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200" b="1">
                <a:solidFill>
                  <a:srgbClr val="D6433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304288"/>
            <a:ext cx="1554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800" b="1">
                <a:solidFill>
                  <a:srgbClr val="1B1F24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971800"/>
            <a:ext cx="1572768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300" b="0">
                <a:solidFill>
                  <a:srgbClr val="5B626C"/>
                </a:solidFill>
                <a:latin typeface="Aptos"/>
              </a:defRPr>
            </a:pPr>
            <a:r>
              <a:t>Demographics, geography, occupation &amp; products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62672" y="1847088"/>
            <a:ext cx="411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200" b="1">
                <a:solidFill>
                  <a:srgbClr val="D6433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2304288"/>
            <a:ext cx="1554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800" b="1">
                <a:solidFill>
                  <a:srgbClr val="1B1F24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971800"/>
            <a:ext cx="1572768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300" b="0">
                <a:solidFill>
                  <a:srgbClr val="5B626C"/>
                </a:solidFill>
                <a:latin typeface="Aptos"/>
              </a:defRPr>
            </a:pPr>
            <a:r>
              <a:t>Count plots and sales/value comparisons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9216" y="1600200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0384" y="1847088"/>
            <a:ext cx="411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200" b="1">
                <a:solidFill>
                  <a:srgbClr val="D6433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2304288"/>
            <a:ext cx="1554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800" b="1">
                <a:solidFill>
                  <a:srgbClr val="1B1F24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971800"/>
            <a:ext cx="1572768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300" b="0">
                <a:solidFill>
                  <a:srgbClr val="5B626C"/>
                </a:solidFill>
                <a:latin typeface="Aptos"/>
              </a:defRPr>
            </a:pPr>
            <a:r>
              <a:t>Identify customer segments and sales opportunities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40680"/>
            <a:ext cx="1033272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900" b="1">
                <a:solidFill>
                  <a:srgbClr val="1B1F24"/>
                </a:solidFill>
                <a:latin typeface="Aptos"/>
              </a:defRPr>
            </a:pPr>
            <a:r>
              <a:t>Final analytical dataset: 11,239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850" b="0">
                <a:solidFill>
                  <a:srgbClr val="5B626C"/>
                </a:solidFill>
                <a:latin typeface="Aptos"/>
              </a:defRPr>
            </a:pPr>
            <a:r>
              <a:t>Diwali Sales EDA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Gender-wise Buyer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Number of buyers by gender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gender should marketing campaigns prioritize to maximize buyer reach?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ender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74" y="2029968"/>
            <a:ext cx="3893574" cy="26903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sns.countplot(data=df, x=</a:t>
            </a:r>
            <a:r>
              <a:rPr sz="1100">
                <a:solidFill>
                  <a:srgbClr val="E09A53"/>
                </a:solidFill>
                <a:latin typeface="Consolas"/>
              </a:rPr>
              <a:t>'Gender'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'Gender'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282C1"/>
                </a:solidFill>
                <a:latin typeface="Consolas"/>
              </a:rPr>
              <a:t>for</a:t>
            </a:r>
            <a:r>
              <a:rPr sz="1100">
                <a:solidFill>
                  <a:srgbClr val="E3E7EC"/>
                </a:solidFill>
                <a:latin typeface="Consolas"/>
              </a:rPr>
              <a:t> bars </a:t>
            </a:r>
            <a:r>
              <a:rPr sz="1100" b="1">
                <a:solidFill>
                  <a:srgbClr val="F282C1"/>
                </a:solidFill>
                <a:latin typeface="Consolas"/>
              </a:rPr>
              <a:t>in</a:t>
            </a:r>
            <a:r>
              <a:rPr sz="11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ax.bar_label(bars)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Female buyers are substantially higher in number: 7,832 females versus 3,407 males.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B1F24"/>
                </a:solidFill>
                <a:latin typeface="Aptos"/>
              </a:rPr>
              <a:t>Female customers are the dominant buyer segment.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Sales by Gender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Total Amount generated by gender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gender generates more revenue and deserves greater marketing investment?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ender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33" y="2029968"/>
            <a:ext cx="3234637" cy="25897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sales_per_gender = df.groupby(</a:t>
            </a:r>
            <a:r>
              <a:rPr sz="1000">
                <a:solidFill>
                  <a:srgbClr val="E09A53"/>
                </a:solidFill>
                <a:latin typeface="Consolas"/>
              </a:rPr>
              <a:t>'Gender'</a:t>
            </a:r>
            <a:r>
              <a:rPr sz="1000">
                <a:solidFill>
                  <a:srgbClr val="E3E7EC"/>
                </a:solidFill>
                <a:latin typeface="Consolas"/>
              </a:rPr>
              <a:t>, as_index=False)[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    .sum().sort_values(by=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ax = sns.barplot(data=sales_per_gender, x=</a:t>
            </a:r>
            <a:r>
              <a:rPr sz="1000">
                <a:solidFill>
                  <a:srgbClr val="E09A53"/>
                </a:solidFill>
                <a:latin typeface="Consolas"/>
              </a:rPr>
              <a:t>'Gender'</a:t>
            </a:r>
            <a:r>
              <a:rPr sz="1000">
                <a:solidFill>
                  <a:srgbClr val="E3E7EC"/>
                </a:solidFill>
                <a:latin typeface="Consolas"/>
              </a:rPr>
              <a:t>, y=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, hue=</a:t>
            </a:r>
            <a:r>
              <a:rPr sz="1000">
                <a:solidFill>
                  <a:srgbClr val="E09A53"/>
                </a:solidFill>
                <a:latin typeface="Consolas"/>
              </a:rPr>
              <a:t>'Gender'</a:t>
            </a:r>
            <a:r>
              <a:rPr sz="10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282C1"/>
                </a:solidFill>
                <a:latin typeface="Consolas"/>
              </a:rPr>
              <a:t>for</a:t>
            </a:r>
            <a:r>
              <a:rPr sz="1000">
                <a:solidFill>
                  <a:srgbClr val="E3E7EC"/>
                </a:solidFill>
                <a:latin typeface="Consolas"/>
              </a:rPr>
              <a:t> bars </a:t>
            </a:r>
            <a:r>
              <a:rPr sz="1000" b="1">
                <a:solidFill>
                  <a:srgbClr val="F282C1"/>
                </a:solidFill>
                <a:latin typeface="Consolas"/>
              </a:rPr>
              <a:t>in</a:t>
            </a:r>
            <a:r>
              <a:rPr sz="10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    ax.bar_label(bars, fmt=</a:t>
            </a:r>
            <a:r>
              <a:rPr sz="1000">
                <a:solidFill>
                  <a:srgbClr val="E09A53"/>
                </a:solidFill>
                <a:latin typeface="Consolas"/>
              </a:rPr>
              <a:t>'%.0f'</a:t>
            </a:r>
            <a:r>
              <a:rPr sz="10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Female customers contribute ₹74,335,853 in total Amount, compared with ₹31,913,276 from male customers.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B1F24"/>
                </a:solidFill>
                <a:latin typeface="Aptos"/>
              </a:rPr>
              <a:t>Female purchasing power is considerably higher.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Age Group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Buyer count split by age group and gender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age group forms the core customer base for targeted campaigns?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g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96" y="2029968"/>
            <a:ext cx="3406912" cy="25897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sns.countplot(data=df, x=</a:t>
            </a:r>
            <a:r>
              <a:rPr sz="1100">
                <a:solidFill>
                  <a:srgbClr val="E09A53"/>
                </a:solidFill>
                <a:latin typeface="Consolas"/>
              </a:rPr>
              <a:t>'Age Group'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'Gender'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282C1"/>
                </a:solidFill>
                <a:latin typeface="Consolas"/>
              </a:rPr>
              <a:t>for</a:t>
            </a:r>
            <a:r>
              <a:rPr sz="1100">
                <a:solidFill>
                  <a:srgbClr val="E3E7EC"/>
                </a:solidFill>
                <a:latin typeface="Consolas"/>
              </a:rPr>
              <a:t> bars </a:t>
            </a:r>
            <a:r>
              <a:rPr sz="1100" b="1">
                <a:solidFill>
                  <a:srgbClr val="F282C1"/>
                </a:solidFill>
                <a:latin typeface="Consolas"/>
              </a:rPr>
              <a:t>in</a:t>
            </a:r>
            <a:r>
              <a:rPr sz="11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ax.bar_label(bars)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The 26–35 age group is the largest segment, with 3,269 female buyers and 1,272 male buyers.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266944"/>
            <a:ext cx="2478024" cy="896112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39496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632704"/>
            <a:ext cx="21122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F24"/>
                </a:solidFill>
                <a:latin typeface="Aptos"/>
              </a:rPr>
              <a:t>26–35 is the core customer segment.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Sales by Age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Total Amount across customer age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age segment contributes the most revenue and should be prioritized for retention?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ge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86" y="2029968"/>
            <a:ext cx="3829931" cy="25897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sales_per_age = df.groupby(</a:t>
            </a:r>
            <a:r>
              <a:rPr sz="1000">
                <a:solidFill>
                  <a:srgbClr val="E09A53"/>
                </a:solidFill>
                <a:latin typeface="Consolas"/>
              </a:rPr>
              <a:t>'Age Group'</a:t>
            </a:r>
            <a:r>
              <a:rPr sz="1000">
                <a:solidFill>
                  <a:srgbClr val="E3E7EC"/>
                </a:solidFill>
                <a:latin typeface="Consolas"/>
              </a:rPr>
              <a:t>, as_index=False)[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    .sum().sort_values(by=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ax = sns.barplot(data=sales_per_age, x=</a:t>
            </a:r>
            <a:r>
              <a:rPr sz="1000">
                <a:solidFill>
                  <a:srgbClr val="E09A53"/>
                </a:solidFill>
                <a:latin typeface="Consolas"/>
              </a:rPr>
              <a:t>'Age Group'</a:t>
            </a:r>
            <a:r>
              <a:rPr sz="1000">
                <a:solidFill>
                  <a:srgbClr val="E3E7EC"/>
                </a:solidFill>
                <a:latin typeface="Consolas"/>
              </a:rPr>
              <a:t>, y=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, hue=</a:t>
            </a:r>
            <a:r>
              <a:rPr sz="1000">
                <a:solidFill>
                  <a:srgbClr val="E09A53"/>
                </a:solidFill>
                <a:latin typeface="Consolas"/>
              </a:rPr>
              <a:t>'Age Group'</a:t>
            </a:r>
            <a:r>
              <a:rPr sz="10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282C1"/>
                </a:solidFill>
                <a:latin typeface="Consolas"/>
              </a:rPr>
              <a:t>for</a:t>
            </a:r>
            <a:r>
              <a:rPr sz="1000">
                <a:solidFill>
                  <a:srgbClr val="E3E7EC"/>
                </a:solidFill>
                <a:latin typeface="Consolas"/>
              </a:rPr>
              <a:t> bars </a:t>
            </a:r>
            <a:r>
              <a:rPr sz="1000" b="1">
                <a:solidFill>
                  <a:srgbClr val="F282C1"/>
                </a:solidFill>
                <a:latin typeface="Consolas"/>
              </a:rPr>
              <a:t>in</a:t>
            </a:r>
            <a:r>
              <a:rPr sz="10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    ax.bar_label(bars, fmt=</a:t>
            </a:r>
            <a:r>
              <a:rPr sz="1000">
                <a:solidFill>
                  <a:srgbClr val="E09A53"/>
                </a:solidFill>
                <a:latin typeface="Consolas"/>
              </a:rPr>
              <a:t>'%.0f'</a:t>
            </a:r>
            <a:r>
              <a:rPr sz="10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The 26–35 segment has the highest total Amount, followed by 36–45 and 18–25.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B1F24"/>
                </a:solidFill>
                <a:latin typeface="Aptos"/>
              </a:rPr>
              <a:t>Prioritize the 26–35 segment in customer-focused campaigns.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State-wise Total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Order activity across Indian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states generate the highest order volume and need strong regional logistics support?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tate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380529"/>
            <a:ext cx="6986016" cy="1888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state_wise_order = df.groupby(</a:t>
            </a:r>
            <a:r>
              <a:rPr sz="1100">
                <a:solidFill>
                  <a:srgbClr val="E09A53"/>
                </a:solidFill>
                <a:latin typeface="Consolas"/>
              </a:rPr>
              <a:t>'State'</a:t>
            </a:r>
            <a:r>
              <a:rPr sz="1100">
                <a:solidFill>
                  <a:srgbClr val="E3E7EC"/>
                </a:solidFill>
                <a:latin typeface="Consolas"/>
              </a:rPr>
              <a:t>, as_index=False)[</a:t>
            </a:r>
            <a:r>
              <a:rPr sz="1100">
                <a:solidFill>
                  <a:srgbClr val="E09A53"/>
                </a:solidFill>
                <a:latin typeface="Consolas"/>
              </a:rPr>
              <a:t>'Orders'</a:t>
            </a:r>
            <a:r>
              <a:rPr sz="1100">
                <a:solidFill>
                  <a:srgbClr val="E3E7EC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.sum().sort_values(by=</a:t>
            </a:r>
            <a:r>
              <a:rPr sz="1100">
                <a:solidFill>
                  <a:srgbClr val="E09A53"/>
                </a:solidFill>
                <a:latin typeface="Consolas"/>
              </a:rPr>
              <a:t>'Orders'</a:t>
            </a:r>
            <a:r>
              <a:rPr sz="11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plt.figure(figsize=(30,7))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sns.barplot(data=state_wise_order, x=</a:t>
            </a:r>
            <a:r>
              <a:rPr sz="1100">
                <a:solidFill>
                  <a:srgbClr val="E09A53"/>
                </a:solidFill>
                <a:latin typeface="Consolas"/>
              </a:rPr>
              <a:t>'State'</a:t>
            </a:r>
            <a:r>
              <a:rPr sz="1100">
                <a:solidFill>
                  <a:srgbClr val="E3E7EC"/>
                </a:solidFill>
                <a:latin typeface="Consolas"/>
              </a:rPr>
              <a:t>, y=</a:t>
            </a:r>
            <a:r>
              <a:rPr sz="1100">
                <a:solidFill>
                  <a:srgbClr val="E09A53"/>
                </a:solidFill>
                <a:latin typeface="Consolas"/>
              </a:rPr>
              <a:t>'Orders'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'State'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The project identifies Uttar Pradesh, Maharashtra and Karnataka as the leading states by total orders.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266944"/>
            <a:ext cx="2478024" cy="896112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39496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632704"/>
            <a:ext cx="211226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1F24"/>
                </a:solidFill>
                <a:latin typeface="Aptos"/>
              </a:rPr>
              <a:t>These states are key regional demand markets.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State-wise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Total Amount generated by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states contribute the most revenue and deserve focused regional sales strategy?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tate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28398"/>
            <a:ext cx="6986016" cy="159290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state_wise_amount = df.groupby(</a:t>
            </a:r>
            <a:r>
              <a:rPr sz="1100">
                <a:solidFill>
                  <a:srgbClr val="E09A53"/>
                </a:solidFill>
                <a:latin typeface="Consolas"/>
              </a:rPr>
              <a:t>'State'</a:t>
            </a:r>
            <a:r>
              <a:rPr sz="1100">
                <a:solidFill>
                  <a:srgbClr val="E3E7EC"/>
                </a:solidFill>
                <a:latin typeface="Consolas"/>
              </a:rPr>
              <a:t>, as_index=False)[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.sum().sort_values(by=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plt.figure(figsize=(30,7))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sns.barplot(data=state_wise_amount, x=</a:t>
            </a:r>
            <a:r>
              <a:rPr sz="1100">
                <a:solidFill>
                  <a:srgbClr val="E09A53"/>
                </a:solidFill>
                <a:latin typeface="Consolas"/>
              </a:rPr>
              <a:t>'State'</a:t>
            </a:r>
            <a:r>
              <a:rPr sz="1100">
                <a:solidFill>
                  <a:srgbClr val="E3E7EC"/>
                </a:solidFill>
                <a:latin typeface="Consolas"/>
              </a:rPr>
              <a:t>, y=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'State'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Sales value is concentrated among the leading states, followed by a long tail of lower-contributing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B1F24"/>
                </a:solidFill>
                <a:latin typeface="Aptos"/>
              </a:rPr>
              <a:t>Regional sales strategies can focus on the strongest markets.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Marital Status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Buyer count by marital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Does marital status affect buyer volume, and should campaigns be tailored accordingly?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arital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69" y="2029968"/>
            <a:ext cx="3579966" cy="25897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sns.countplot(data=df, x=</a:t>
            </a:r>
            <a:r>
              <a:rPr sz="1100">
                <a:solidFill>
                  <a:srgbClr val="E09A53"/>
                </a:solidFill>
                <a:latin typeface="Consolas"/>
              </a:rPr>
              <a:t>'Marital_Status'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'Marital_Status'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282C1"/>
                </a:solidFill>
                <a:latin typeface="Consolas"/>
              </a:rPr>
              <a:t>for</a:t>
            </a:r>
            <a:r>
              <a:rPr sz="1100">
                <a:solidFill>
                  <a:srgbClr val="E3E7EC"/>
                </a:solidFill>
                <a:latin typeface="Consolas"/>
              </a:rPr>
              <a:t> bars </a:t>
            </a:r>
            <a:r>
              <a:rPr sz="1100" b="1">
                <a:solidFill>
                  <a:srgbClr val="F282C1"/>
                </a:solidFill>
                <a:latin typeface="Consolas"/>
              </a:rPr>
              <a:t>in</a:t>
            </a:r>
            <a:r>
              <a:rPr sz="11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ax.bar_label(bars)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The dataset has 6,518 unmarried buyers (0) and 4,721 married buyers (1).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B1F24"/>
                </a:solidFill>
                <a:latin typeface="Aptos"/>
              </a:rPr>
              <a:t>Marital status is a useful customer-segmentation variable.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Sales by Marital Status &amp; Gender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Total Amount split by marital status and gender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Within marital-status segments, which gender drives more purchasing value?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arital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21" y="2029968"/>
            <a:ext cx="3699661" cy="25897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marital_status_amount = df.groupby([</a:t>
            </a:r>
            <a:r>
              <a:rPr sz="1100">
                <a:solidFill>
                  <a:srgbClr val="E09A53"/>
                </a:solidFill>
                <a:latin typeface="Consolas"/>
              </a:rPr>
              <a:t>'Marital_Status'</a:t>
            </a:r>
            <a:r>
              <a:rPr sz="1100">
                <a:solidFill>
                  <a:srgbClr val="E3E7EC"/>
                </a:solidFill>
                <a:latin typeface="Consolas"/>
              </a:rPr>
              <a:t>,</a:t>
            </a:r>
            <a:r>
              <a:rPr sz="1100">
                <a:solidFill>
                  <a:srgbClr val="E09A53"/>
                </a:solidFill>
                <a:latin typeface="Consolas"/>
              </a:rPr>
              <a:t>'Gender'</a:t>
            </a:r>
            <a:r>
              <a:rPr sz="1100">
                <a:solidFill>
                  <a:srgbClr val="E3E7EC"/>
                </a:solidFill>
                <a:latin typeface="Consolas"/>
              </a:rPr>
              <a:t>],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as_index=False)[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].sum().sort_values(by=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sns.barplot(data=marital_status_amount, x=</a:t>
            </a:r>
            <a:r>
              <a:rPr sz="1100">
                <a:solidFill>
                  <a:srgbClr val="E09A53"/>
                </a:solidFill>
                <a:latin typeface="Consolas"/>
              </a:rPr>
              <a:t>'Marital_Status'</a:t>
            </a:r>
            <a:r>
              <a:rPr sz="1100">
                <a:solidFill>
                  <a:srgbClr val="E3E7EC"/>
                </a:solidFill>
                <a:latin typeface="Consolas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y=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'Gender'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Women contribute the larger Amount within both groups; unmarried (0) female Amount is ₹43,786,646.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B1F24"/>
                </a:solidFill>
                <a:latin typeface="Aptos"/>
              </a:rPr>
              <a:t>Female customers drive a large share of purchasing value across segments.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Occupation-wise Buyer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Number of buyers across occupations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occupation groups should be targeted for customer acquisition?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ccupation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57533"/>
            <a:ext cx="6986016" cy="15346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plt.figure(figsize=(30,7))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sns.countplot(data=df, x=</a:t>
            </a:r>
            <a:r>
              <a:rPr sz="1100">
                <a:solidFill>
                  <a:srgbClr val="E09A53"/>
                </a:solidFill>
                <a:latin typeface="Consolas"/>
              </a:rPr>
              <a:t>'Occupation'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'Occupation'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282C1"/>
                </a:solidFill>
                <a:latin typeface="Consolas"/>
              </a:rPr>
              <a:t>for</a:t>
            </a:r>
            <a:r>
              <a:rPr sz="1100">
                <a:solidFill>
                  <a:srgbClr val="E3E7EC"/>
                </a:solidFill>
                <a:latin typeface="Consolas"/>
              </a:rPr>
              <a:t> bars </a:t>
            </a:r>
            <a:r>
              <a:rPr sz="1100" b="1">
                <a:solidFill>
                  <a:srgbClr val="F282C1"/>
                </a:solidFill>
                <a:latin typeface="Consolas"/>
              </a:rPr>
              <a:t>in</a:t>
            </a:r>
            <a:r>
              <a:rPr sz="11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ax.bar_label(bars)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The project identifies IT Sector, Aviation and Healthcare among the prominent buyer occupations.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B1F24"/>
                </a:solidFill>
                <a:latin typeface="Aptos"/>
              </a:rPr>
              <a:t>Occupation can support targeted customer segmentation.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Occupation-wise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Total Amount by occupation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occupations generate the highest revenue and warrant premium targeting?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ccupation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23176"/>
            <a:ext cx="6986016" cy="16033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occupation_amount = df.groupby([</a:t>
            </a:r>
            <a:r>
              <a:rPr sz="1100">
                <a:solidFill>
                  <a:srgbClr val="E09A53"/>
                </a:solidFill>
                <a:latin typeface="Consolas"/>
              </a:rPr>
              <a:t>'Occupation'</a:t>
            </a:r>
            <a:r>
              <a:rPr sz="1100">
                <a:solidFill>
                  <a:srgbClr val="E3E7EC"/>
                </a:solidFill>
                <a:latin typeface="Consolas"/>
              </a:rPr>
              <a:t>], as_index=False)[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.sum().sort_values(by=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plt.figure(figsize=(30,7))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sns.barplot(data=occupation_amount, x=</a:t>
            </a:r>
            <a:r>
              <a:rPr sz="1100">
                <a:solidFill>
                  <a:srgbClr val="E09A53"/>
                </a:solidFill>
                <a:latin typeface="Consolas"/>
              </a:rPr>
              <a:t>'Occupation'</a:t>
            </a:r>
            <a:r>
              <a:rPr sz="1100">
                <a:solidFill>
                  <a:srgbClr val="E3E7EC"/>
                </a:solidFill>
                <a:latin typeface="Consolas"/>
              </a:rPr>
              <a:t>, y=</a:t>
            </a:r>
            <a:r>
              <a:rPr sz="1100">
                <a:solidFill>
                  <a:srgbClr val="E09A53"/>
                </a:solidFill>
                <a:latin typeface="Consolas"/>
              </a:rPr>
              <a:t>'Amount'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'Occupation'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Sales contribution varies across occupations, with IT Sector, Healthcare and Aviation leading the ranking.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B1F24"/>
                </a:solidFill>
                <a:latin typeface="Aptos"/>
              </a:rPr>
              <a:t>Occupation-level targeting can prioritize high-value audiences.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Product Category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Buyer/order volume across product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product categories see the highest demand and need inventory focus?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ategory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80438"/>
            <a:ext cx="6986016" cy="148882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plt.figure(figsize=(30,7))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sns.countplot(data=df, x=</a:t>
            </a:r>
            <a:r>
              <a:rPr sz="1100">
                <a:solidFill>
                  <a:srgbClr val="E09A53"/>
                </a:solidFill>
                <a:latin typeface="Consolas"/>
              </a:rPr>
              <a:t>'Product_Category'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'Product_Category'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282C1"/>
                </a:solidFill>
                <a:latin typeface="Consolas"/>
              </a:rPr>
              <a:t>for</a:t>
            </a:r>
            <a:r>
              <a:rPr sz="1100">
                <a:solidFill>
                  <a:srgbClr val="E3E7EC"/>
                </a:solidFill>
                <a:latin typeface="Consolas"/>
              </a:rPr>
              <a:t> bars </a:t>
            </a:r>
            <a:r>
              <a:rPr sz="1100" b="1">
                <a:solidFill>
                  <a:srgbClr val="F282C1"/>
                </a:solidFill>
                <a:latin typeface="Consolas"/>
              </a:rPr>
              <a:t>in</a:t>
            </a:r>
            <a:r>
              <a:rPr sz="1100">
                <a:solidFill>
                  <a:srgbClr val="E3E7EC"/>
                </a:solidFill>
                <a:latin typeface="Consolas"/>
              </a:rPr>
              <a:t> ax.containers: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ax.bar_label(bars)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The project highlights Food, Clothing &amp; Apparel and Electronics &amp; Gadgets as important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B1F24"/>
                </a:solidFill>
                <a:latin typeface="Aptos"/>
              </a:rPr>
              <a:t>These categories deserve strong merchandising and campaign attention.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Sales by Product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Total Amount generated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categories generate the most revenue and deserve marketing and promotional focus?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ategory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23176"/>
            <a:ext cx="6986016" cy="16033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prd_cat_amount = df.groupby([</a:t>
            </a:r>
            <a:r>
              <a:rPr sz="1000">
                <a:solidFill>
                  <a:srgbClr val="E09A53"/>
                </a:solidFill>
                <a:latin typeface="Consolas"/>
              </a:rPr>
              <a:t>'Product_Category'</a:t>
            </a:r>
            <a:r>
              <a:rPr sz="1000">
                <a:solidFill>
                  <a:srgbClr val="E3E7EC"/>
                </a:solidFill>
                <a:latin typeface="Consolas"/>
              </a:rPr>
              <a:t>], as_index=False)[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    .sum().sort_values(by=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, ascending=False)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plt.figure(figsize=(32,7))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sns.barplot(data=prd_cat_amount, x=</a:t>
            </a:r>
            <a:r>
              <a:rPr sz="1000">
                <a:solidFill>
                  <a:srgbClr val="E09A53"/>
                </a:solidFill>
                <a:latin typeface="Consolas"/>
              </a:rPr>
              <a:t>'Product_Category'</a:t>
            </a:r>
            <a:r>
              <a:rPr sz="1000">
                <a:solidFill>
                  <a:srgbClr val="E3E7EC"/>
                </a:solidFill>
                <a:latin typeface="Consolas"/>
              </a:rPr>
              <a:t>, y=</a:t>
            </a:r>
            <a:r>
              <a:rPr sz="1000">
                <a:solidFill>
                  <a:srgbClr val="E09A53"/>
                </a:solidFill>
                <a:latin typeface="Consolas"/>
              </a:rPr>
              <a:t>'Amount'</a:t>
            </a:r>
            <a:r>
              <a:rPr sz="1000">
                <a:solidFill>
                  <a:srgbClr val="E3E7EC"/>
                </a:solidFill>
                <a:latin typeface="Consolas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3E7EC"/>
                </a:solidFill>
                <a:latin typeface="Consolas"/>
              </a:rPr>
              <a:t>    hue=</a:t>
            </a:r>
            <a:r>
              <a:rPr sz="1000">
                <a:solidFill>
                  <a:srgbClr val="E09A53"/>
                </a:solidFill>
                <a:latin typeface="Consolas"/>
              </a:rPr>
              <a:t>'Product_Category'</a:t>
            </a:r>
            <a:r>
              <a:rPr sz="10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Food is the clear revenue leader, followed by Clothing &amp; Apparel, Electronics &amp; Gadgets and Footwear &amp; Shoes.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B1F24"/>
                </a:solidFill>
                <a:latin typeface="Aptos"/>
              </a:rPr>
              <a:t>Use category sales contribution to prioritize products and promotions.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6433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B1F24"/>
                </a:solidFill>
                <a:latin typeface="Aptos Display"/>
              </a:rPr>
              <a:t>Top 10 Products by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26C"/>
                </a:solidFill>
                <a:latin typeface="Aptos"/>
              </a:rPr>
              <a:t>Product IDs with the highest total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0451592" cy="10972"/>
          </a:xfrm>
          <a:prstGeom prst="rect">
            <a:avLst/>
          </a:prstGeom>
          <a:solidFill>
            <a:srgbClr val="E8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207008"/>
            <a:ext cx="10451592" cy="512064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9525">
            <a:solidFill>
              <a:srgbClr val="F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54864" cy="512064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07008"/>
            <a:ext cx="9994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6433A"/>
                </a:solidFill>
                <a:latin typeface="Aptos"/>
              </a:rPr>
              <a:t>BUSINESS PROBLEM   </a:t>
            </a:r>
            <a:r>
              <a:rPr sz="1250" b="0">
                <a:solidFill>
                  <a:srgbClr val="1B1F24"/>
                </a:solidFill>
                <a:latin typeface="Aptos"/>
              </a:rPr>
              <a:t>Which specific products are bestsellers and should be prioritized for stock availability?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7242048" cy="28457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op10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602961"/>
            <a:ext cx="6986016" cy="14437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4811755"/>
            <a:ext cx="7242048" cy="1607333"/>
          </a:xfrm>
          <a:prstGeom prst="roundRect">
            <a:avLst>
              <a:gd name="adj" fmla="val 4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21483"/>
            <a:ext cx="6949440" cy="1406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prd_ord = df.groupby([</a:t>
            </a:r>
            <a:r>
              <a:rPr sz="1100">
                <a:solidFill>
                  <a:srgbClr val="E09A53"/>
                </a:solidFill>
                <a:latin typeface="Consolas"/>
              </a:rPr>
              <a:t>'Product_ID'</a:t>
            </a:r>
            <a:r>
              <a:rPr sz="1100">
                <a:solidFill>
                  <a:srgbClr val="E3E7EC"/>
                </a:solidFill>
                <a:latin typeface="Consolas"/>
              </a:rPr>
              <a:t>], as_index=False)[</a:t>
            </a:r>
            <a:r>
              <a:rPr sz="1100">
                <a:solidFill>
                  <a:srgbClr val="E09A53"/>
                </a:solidFill>
                <a:latin typeface="Consolas"/>
              </a:rPr>
              <a:t>'Orders'</a:t>
            </a:r>
            <a:r>
              <a:rPr sz="1100">
                <a:solidFill>
                  <a:srgbClr val="E3E7EC"/>
                </a:solidFill>
                <a:latin typeface="Consolas"/>
              </a:rPr>
              <a:t>].sum()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    .sort_values(by=</a:t>
            </a:r>
            <a:r>
              <a:rPr sz="1100">
                <a:solidFill>
                  <a:srgbClr val="E09A53"/>
                </a:solidFill>
                <a:latin typeface="Consolas"/>
              </a:rPr>
              <a:t>'Orders'</a:t>
            </a:r>
            <a:r>
              <a:rPr sz="1100">
                <a:solidFill>
                  <a:srgbClr val="E3E7EC"/>
                </a:solidFill>
                <a:latin typeface="Consolas"/>
              </a:rPr>
              <a:t>, ascending=False).head(10)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plt.figure(figsize=(32,7))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3E7EC"/>
                </a:solidFill>
                <a:latin typeface="Consolas"/>
              </a:rPr>
              <a:t>ax = sns.barplot(data=prd_ord, x=</a:t>
            </a:r>
            <a:r>
              <a:rPr sz="1100">
                <a:solidFill>
                  <a:srgbClr val="E09A53"/>
                </a:solidFill>
                <a:latin typeface="Consolas"/>
              </a:rPr>
              <a:t>'Product_ID'</a:t>
            </a:r>
            <a:r>
              <a:rPr sz="1100">
                <a:solidFill>
                  <a:srgbClr val="E3E7EC"/>
                </a:solidFill>
                <a:latin typeface="Consolas"/>
              </a:rPr>
              <a:t>, y=</a:t>
            </a:r>
            <a:r>
              <a:rPr sz="1100">
                <a:solidFill>
                  <a:srgbClr val="E09A53"/>
                </a:solidFill>
                <a:latin typeface="Consolas"/>
              </a:rPr>
              <a:t>'Orders'</a:t>
            </a:r>
            <a:r>
              <a:rPr sz="1100">
                <a:solidFill>
                  <a:srgbClr val="E3E7EC"/>
                </a:solidFill>
                <a:latin typeface="Consolas"/>
              </a:rPr>
              <a:t>, hue=</a:t>
            </a:r>
            <a:r>
              <a:rPr sz="1100">
                <a:solidFill>
                  <a:srgbClr val="E09A53"/>
                </a:solidFill>
                <a:latin typeface="Consolas"/>
              </a:rPr>
              <a:t>'Product_ID'</a:t>
            </a:r>
            <a:r>
              <a:rPr sz="1100">
                <a:solidFill>
                  <a:srgbClr val="E3E7EC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901952"/>
            <a:ext cx="3026664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91856" y="1901952"/>
            <a:ext cx="3026664" cy="91440"/>
          </a:xfrm>
          <a:prstGeom prst="roundRect">
            <a:avLst>
              <a:gd name="adj" fmla="val 50000"/>
            </a:avLst>
          </a:prstGeom>
          <a:solidFill>
            <a:srgbClr val="D6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24780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1F24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2"/>
            <a:ext cx="24780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B1F24"/>
                </a:solidFill>
                <a:latin typeface="Aptos"/>
              </a:rPr>
              <a:t>Product P00265242 leads with 127 orders, followed by P00110942 (116) and P00237542 (91).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6" y="5065776"/>
            <a:ext cx="2478024" cy="1097280"/>
          </a:xfrm>
          <a:prstGeom prst="roundRect">
            <a:avLst>
              <a:gd name="adj" fmla="val 10000"/>
            </a:avLst>
          </a:prstGeom>
          <a:solidFill>
            <a:srgbClr val="F4F8F6"/>
          </a:solidFill>
          <a:ln w="9525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5193792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C7D57"/>
                </a:solidFill>
                <a:latin typeface="Aptos"/>
              </a:rPr>
              <a:t>BUSINESS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5431536"/>
            <a:ext cx="21122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B1F24"/>
                </a:solidFill>
                <a:latin typeface="Aptos"/>
              </a:rPr>
              <a:t>Top products can be prioritized for inventory and promotion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6483096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5B626C"/>
                </a:solidFill>
                <a:latin typeface="Aptos"/>
              </a:rPr>
              <a:t>Diwali Sales EDA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100" b="1">
                <a:solidFill>
                  <a:srgbClr val="D6433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46888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Final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786384"/>
            <a:ext cx="102412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150" b="0">
                <a:solidFill>
                  <a:srgbClr val="AAB0B9"/>
                </a:solidFill>
                <a:latin typeface="Aptos"/>
              </a:defRPr>
            </a:pPr>
            <a:r>
              <a:t>What the complete EDA 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18520" cy="10972"/>
          </a:xfrm>
          <a:prstGeom prst="rect">
            <a:avLst/>
          </a:prstGeom>
          <a:solidFill>
            <a:srgbClr val="414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457200" cy="457200"/>
          </a:xfrm>
          <a:prstGeom prst="roundRect">
            <a:avLst/>
          </a:prstGeom>
          <a:solidFill>
            <a:srgbClr val="D64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90472"/>
            <a:ext cx="969264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Female customers are the dominant buyer group and contribute higher total purchasing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58568"/>
            <a:ext cx="457200" cy="457200"/>
          </a:xfrm>
          <a:prstGeom prst="roundRect">
            <a:avLst/>
          </a:prstGeom>
          <a:solidFill>
            <a:srgbClr val="D64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40279"/>
            <a:ext cx="969264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The 26–35 age group is the strongest customer segment and is predominantly female.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08376"/>
            <a:ext cx="457200" cy="457200"/>
          </a:xfrm>
          <a:prstGeom prst="roundRect">
            <a:avLst/>
          </a:prstGeom>
          <a:solidFill>
            <a:srgbClr val="D64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81528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90088"/>
            <a:ext cx="969264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Uttar Pradesh, Maharashtra and Karnataka are highlighted as leading states for order activity.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58183"/>
            <a:ext cx="457200" cy="457200"/>
          </a:xfrm>
          <a:prstGeom prst="roundRect">
            <a:avLst/>
          </a:prstGeom>
          <a:solidFill>
            <a:srgbClr val="D64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31335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9896"/>
            <a:ext cx="969264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Occupation, marital status and product category provide useful dimensions for customer segmentation.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07992"/>
            <a:ext cx="457200" cy="457200"/>
          </a:xfrm>
          <a:prstGeom prst="roundRect">
            <a:avLst/>
          </a:prstGeom>
          <a:solidFill>
            <a:srgbClr val="D64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581144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89704"/>
            <a:ext cx="969264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Food, Clothing and Electronics are highlighted as important product categories.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defRPr sz="1600" b="1">
                <a:solidFill>
                  <a:srgbClr val="DCE0E6"/>
                </a:solidFill>
                <a:latin typeface="Aptos"/>
              </a:defRPr>
            </a:pPr>
            <a:r>
              <a:t>EDA outcome: customer understanding → segmentation → actionable sales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defRPr sz="850" b="0">
                <a:solidFill>
                  <a:srgbClr val="5B626C"/>
                </a:solidFill>
                <a:latin typeface="Aptos"/>
              </a:defRPr>
            </a:pPr>
            <a:r>
              <a:t>Diwali Sales EDA  •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1752</Words>
  <Application>Microsoft Office PowerPoint</Application>
  <PresentationFormat>Widescreen</PresentationFormat>
  <Paragraphs>210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kashyap</cp:lastModifiedBy>
  <cp:revision>3</cp:revision>
  <dcterms:created xsi:type="dcterms:W3CDTF">2013-01-27T09:14:16Z</dcterms:created>
  <dcterms:modified xsi:type="dcterms:W3CDTF">2026-09-12T10:39:35Z</dcterms:modified>
  <cp:category/>
</cp:coreProperties>
</file>