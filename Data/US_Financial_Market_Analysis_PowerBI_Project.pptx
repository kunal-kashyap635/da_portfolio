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U.S. Financial Market Analysis</a:t>
            </a:r>
          </a:p>
          <a:p>
            <a:pPr>
              <a:spcBef>
                <a:spcPts val="400"/>
              </a:spcBef>
              <a:defRPr sz="2800" b="1">
                <a:solidFill>
                  <a:srgbClr val="8DE8E2"/>
                </a:solidFill>
                <a:latin typeface="Aptos Display"/>
              </a:defRPr>
            </a:pPr>
            <a:r>
              <a:t>Power BI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7081" y="2687658"/>
            <a:ext cx="1094212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E0EBF1"/>
                </a:solidFill>
                <a:latin typeface="Aptos"/>
              </a:defRPr>
            </a:pPr>
            <a:r>
              <a:rPr dirty="0"/>
              <a:t>End-to-end financial analytics workflow combining automation, Python, Google Drive API, Power Query, DAX and Power BI.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081" y="3813441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rPr dirty="0"/>
              <a:t>Power BI  •  Power Query  •  DAX  •  Python  •  Google Drive API  •  Power Automate  •  Outlook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Project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73736"/>
            <a:ext cx="2788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0F5F3"/>
                </a:solidFill>
                <a:latin typeface="Aptos"/>
              </a:defRPr>
            </a:pPr>
            <a:r>
              <a:t>Automation → Data → BI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83112" cy="13716"/>
          </a:xfrm>
          <a:prstGeom prst="rect">
            <a:avLst/>
          </a:prstGeom>
          <a:solidFill>
            <a:srgbClr val="D7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6E78"/>
                </a:solidFill>
              </a:defRPr>
            </a:pPr>
            <a: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078992"/>
            <a:ext cx="502920" cy="502920"/>
          </a:xfrm>
          <a:prstGeom prst="ellipse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033271"/>
            <a:ext cx="9784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12263F"/>
                </a:solidFill>
                <a:latin typeface="Aptos Display"/>
              </a:defRPr>
            </a:pPr>
            <a:r>
              <a:t>Outlook Rules</a:t>
            </a:r>
          </a:p>
          <a:p>
            <a:pPr>
              <a:defRPr sz="1150">
                <a:solidFill>
                  <a:srgbClr val="626E78"/>
                </a:solidFill>
                <a:latin typeface="Aptos"/>
              </a:defRPr>
            </a:pPr>
            <a:r>
              <a:t>Automatically organize incoming files received through email.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011680"/>
            <a:ext cx="502920" cy="502920"/>
          </a:xfrm>
          <a:prstGeom prst="ellipse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965960"/>
            <a:ext cx="9784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12263F"/>
                </a:solidFill>
                <a:latin typeface="Aptos Display"/>
              </a:defRPr>
            </a:pPr>
            <a:r>
              <a:t>Power Automate</a:t>
            </a:r>
          </a:p>
          <a:p>
            <a:pPr>
              <a:defRPr sz="1150">
                <a:solidFill>
                  <a:srgbClr val="626E78"/>
                </a:solidFill>
                <a:latin typeface="Aptos"/>
              </a:defRPr>
            </a:pPr>
            <a:r>
              <a:t>Move files automatically to Google Drive.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944368"/>
            <a:ext cx="502920" cy="502920"/>
          </a:xfrm>
          <a:prstGeom prst="ellipse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898648"/>
            <a:ext cx="9784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12263F"/>
                </a:solidFill>
                <a:latin typeface="Aptos Display"/>
              </a:defRPr>
            </a:pPr>
            <a:r>
              <a:t>Google Cloud</a:t>
            </a:r>
          </a:p>
          <a:p>
            <a:pPr>
              <a:defRPr sz="1150">
                <a:solidFill>
                  <a:srgbClr val="626E78"/>
                </a:solidFill>
                <a:latin typeface="Aptos"/>
              </a:defRPr>
            </a:pPr>
            <a:r>
              <a:t>Create a project and enable the Google Drive API.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877056"/>
            <a:ext cx="502920" cy="502920"/>
          </a:xfrm>
          <a:prstGeom prst="ellipse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831336"/>
            <a:ext cx="9784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12263F"/>
                </a:solidFill>
                <a:latin typeface="Aptos Display"/>
              </a:defRPr>
            </a:pPr>
            <a:r>
              <a:t>Python</a:t>
            </a:r>
          </a:p>
          <a:p>
            <a:pPr>
              <a:defRPr sz="1150">
                <a:solidFill>
                  <a:srgbClr val="626E78"/>
                </a:solidFill>
                <a:latin typeface="Aptos"/>
              </a:defRPr>
            </a:pPr>
            <a:r>
              <a:t>Programmatically access and prepare data from Google Drive.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809744"/>
            <a:ext cx="502920" cy="502920"/>
          </a:xfrm>
          <a:prstGeom prst="ellipse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764024"/>
            <a:ext cx="9784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12263F"/>
                </a:solidFill>
                <a:latin typeface="Aptos Display"/>
              </a:defRPr>
            </a:pPr>
            <a:r>
              <a:t>Power BI</a:t>
            </a:r>
          </a:p>
          <a:p>
            <a:pPr>
              <a:defRPr sz="1150">
                <a:solidFill>
                  <a:srgbClr val="626E78"/>
                </a:solidFill>
                <a:latin typeface="Aptos"/>
              </a:defRPr>
            </a:pPr>
            <a:r>
              <a:t>Load data, clean and transform it, calculate metrics and build the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Dashboard — Financial Analysis | Page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73736"/>
            <a:ext cx="2788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0F5F3"/>
                </a:solidFill>
                <a:latin typeface="Aptos"/>
              </a:defRPr>
            </a:pPr>
            <a:r>
              <a:t>Original dashboard visual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83112" cy="13716"/>
          </a:xfrm>
          <a:prstGeom prst="rect">
            <a:avLst/>
          </a:prstGeom>
          <a:solidFill>
            <a:srgbClr val="D7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6E78"/>
                </a:solidFill>
              </a:defRPr>
            </a:pPr>
            <a:r>
              <a:t>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C7C353-CDE0-A0A6-FD22-E3C42E1ED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24" y="861828"/>
            <a:ext cx="11409253" cy="55255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Dashboard — Financial Analysis | Page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73736"/>
            <a:ext cx="2788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0F5F3"/>
                </a:solidFill>
                <a:latin typeface="Aptos"/>
              </a:defRPr>
            </a:pPr>
            <a:r>
              <a:t>Original dashboard visual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83112" cy="13716"/>
          </a:xfrm>
          <a:prstGeom prst="rect">
            <a:avLst/>
          </a:prstGeom>
          <a:solidFill>
            <a:srgbClr val="D7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6E78"/>
                </a:solidFill>
              </a:defRPr>
            </a:pPr>
            <a:r>
              <a:t>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609839-7341-91C6-08C9-76A0E1D08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55549"/>
            <a:ext cx="11183112" cy="55366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Key Insights — Customer &amp; Credit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73736"/>
            <a:ext cx="2788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0F5F3"/>
                </a:solidFill>
                <a:latin typeface="Aptos"/>
              </a:defRPr>
            </a:pPr>
            <a:r>
              <a:t>Page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83112" cy="13716"/>
          </a:xfrm>
          <a:prstGeom prst="rect">
            <a:avLst/>
          </a:prstGeom>
          <a:solidFill>
            <a:srgbClr val="D7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6E78"/>
                </a:solidFill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51560"/>
            <a:ext cx="5486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bIns="109728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2263F"/>
                </a:solidFill>
                <a:latin typeface="Aptos Display"/>
              </a:defRPr>
            </a:pPr>
            <a:r>
              <a:rPr dirty="0"/>
              <a:t>Credit score &amp; age distribution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v"/>
              <a:defRPr sz="1300">
                <a:solidFill>
                  <a:srgbClr val="26303A"/>
                </a:solidFill>
                <a:latin typeface="Aptos"/>
              </a:defRPr>
            </a:pPr>
            <a:r>
              <a:rPr dirty="0"/>
              <a:t>Age 17 has the highest average credit score at 13.95, followed by Age 18 at approximately 13.04.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v"/>
              <a:defRPr sz="1300">
                <a:solidFill>
                  <a:srgbClr val="26303A"/>
                </a:solidFill>
                <a:latin typeface="Aptos"/>
              </a:defRPr>
            </a:pPr>
            <a:r>
              <a:rPr dirty="0"/>
              <a:t>Age 34 has the highest customer count at 1,140, while Age 14 has the lowest at 51.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v"/>
              <a:defRPr sz="1300">
                <a:solidFill>
                  <a:srgbClr val="26303A"/>
                </a:solidFill>
                <a:latin typeface="Aptos"/>
              </a:defRPr>
            </a:pPr>
            <a:r>
              <a:rPr dirty="0"/>
              <a:t>The Old Adult age group has the highest customer count, with approximately 5.4K customers.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51560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bIns="109728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2263F"/>
                </a:solidFill>
                <a:latin typeface="Aptos Display"/>
              </a:defRPr>
            </a:pPr>
            <a:r>
              <a:rPr dirty="0"/>
              <a:t>Payment </a:t>
            </a:r>
            <a:r>
              <a:rPr dirty="0" err="1"/>
              <a:t>behaviour</a:t>
            </a:r>
            <a:r>
              <a:rPr dirty="0"/>
              <a:t> &amp; inquiries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v"/>
              <a:defRPr sz="1300">
                <a:solidFill>
                  <a:srgbClr val="26303A"/>
                </a:solidFill>
                <a:latin typeface="Aptos"/>
              </a:defRPr>
            </a:pPr>
            <a:r>
              <a:rPr dirty="0"/>
              <a:t>Low-spent, small-value payments have the highest transaction count across all credit-mix categories, peaking at 1,694 within the Standard credit-mix category.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v"/>
              <a:defRPr sz="1300">
                <a:solidFill>
                  <a:srgbClr val="26303A"/>
                </a:solidFill>
                <a:latin typeface="Aptos"/>
              </a:defRPr>
            </a:pPr>
            <a:r>
              <a:rPr dirty="0"/>
              <a:t>The Teen age group has the highest average number of credit inquiries at 10.06, followed by Young Adults at 8.06.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46120"/>
            <a:ext cx="11018520" cy="2331720"/>
          </a:xfrm>
          <a:prstGeom prst="roundRect">
            <a:avLst/>
          </a:prstGeom>
          <a:solidFill>
            <a:srgbClr val="E0F5F3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bIns="109728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2263F"/>
                </a:solidFill>
                <a:latin typeface="Aptos Display"/>
              </a:defRPr>
            </a:pPr>
            <a:r>
              <a:rPr dirty="0"/>
              <a:t>Loans, cards &amp; potential customers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v"/>
              <a:defRPr sz="1300">
                <a:solidFill>
                  <a:srgbClr val="26303A"/>
                </a:solidFill>
                <a:latin typeface="Aptos"/>
              </a:defRPr>
            </a:pPr>
            <a:r>
              <a:rPr dirty="0"/>
              <a:t>At age 16, customers have approximately 5.94 credit cards on average and around 5.21 loans on average.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v"/>
              <a:defRPr sz="1300">
                <a:solidFill>
                  <a:srgbClr val="26303A"/>
                </a:solidFill>
                <a:latin typeface="Aptos"/>
              </a:defRPr>
            </a:pPr>
            <a:r>
              <a:rPr dirty="0"/>
              <a:t>Age 14 has the highest average number of credit inquiries at 10.73 and is classified as a potential customer in the dataset.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LTV-Based Offer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73736"/>
            <a:ext cx="2788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0F5F3"/>
                </a:solidFill>
                <a:latin typeface="Aptos"/>
              </a:defRPr>
            </a:pPr>
            <a:r>
              <a:t>Original visual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83112" cy="13716"/>
          </a:xfrm>
          <a:prstGeom prst="rect">
            <a:avLst/>
          </a:prstGeom>
          <a:solidFill>
            <a:srgbClr val="D7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6E78"/>
                </a:solidFill>
              </a:defRPr>
            </a:pPr>
            <a:r>
              <a:t>5</a:t>
            </a:r>
          </a:p>
        </p:txBody>
      </p:sp>
      <p:pic>
        <p:nvPicPr>
          <p:cNvPr id="8" name="Picture 7" descr="image(20261002-17453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4418729" cy="5394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55226" y="1258530"/>
            <a:ext cx="5646173" cy="425348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bIns="109728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2263F"/>
                </a:solidFill>
                <a:latin typeface="Aptos Display"/>
              </a:defRPr>
            </a:pPr>
            <a:r>
              <a:rPr dirty="0"/>
              <a:t>Key observations</a:t>
            </a:r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  <a:defRPr sz="1300">
                <a:solidFill>
                  <a:srgbClr val="26303A"/>
                </a:solidFill>
                <a:latin typeface="Aptos"/>
              </a:defRPr>
            </a:pPr>
            <a:r>
              <a:rPr sz="2000" dirty="0"/>
              <a:t>The 5% interest-rate loan offer is the most frequently assigned offer across the displayed age groups.</a:t>
            </a:r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  <a:defRPr sz="1300">
                <a:solidFill>
                  <a:srgbClr val="26303A"/>
                </a:solidFill>
                <a:latin typeface="Aptos"/>
              </a:defRPr>
            </a:pPr>
            <a:r>
              <a:rPr sz="2000" dirty="0"/>
              <a:t>A 30% online-purchase discount combined with a 4% home-loan interest rate is assigned to customers aged 15 and 27.</a:t>
            </a:r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  <a:defRPr sz="1300">
                <a:solidFill>
                  <a:srgbClr val="26303A"/>
                </a:solidFill>
                <a:latin typeface="Aptos"/>
              </a:defRPr>
            </a:pPr>
            <a:r>
              <a:rPr sz="2000" dirty="0"/>
              <a:t>A 15% online-purchase discount with a ₹10,000-worth gift hamper is assigned to several age groups, including 19, 29, 33, 35 and 49.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464351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Key Insights — Loan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73736"/>
            <a:ext cx="2788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0F5F3"/>
                </a:solidFill>
                <a:latin typeface="Aptos"/>
              </a:defRPr>
            </a:pPr>
            <a:r>
              <a:t>Page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83112" cy="13716"/>
          </a:xfrm>
          <a:prstGeom prst="rect">
            <a:avLst/>
          </a:prstGeom>
          <a:solidFill>
            <a:srgbClr val="D7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26E78"/>
                </a:solidFill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6434" y="2674620"/>
            <a:ext cx="6730933" cy="1508760"/>
          </a:xfrm>
          <a:prstGeom prst="roundRect">
            <a:avLst/>
          </a:prstGeom>
          <a:solidFill>
            <a:srgbClr val="E0F5F3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bIns="109728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2263F"/>
                </a:solidFill>
                <a:latin typeface="Aptos Display"/>
              </a:defRPr>
            </a:pPr>
            <a:r>
              <a:rPr dirty="0"/>
              <a:t>Loan distribution</a:t>
            </a:r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  <a:defRPr sz="1300">
                <a:solidFill>
                  <a:srgbClr val="26303A"/>
                </a:solidFill>
                <a:latin typeface="Aptos"/>
              </a:defRPr>
            </a:pPr>
            <a:r>
              <a:rPr sz="2000" dirty="0"/>
              <a:t>Credit-Builder Loans have the highest loan count at 7,437, followed by Payday Loans at 7,340.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251F59-8704-1207-CD1F-241646C00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9533"/>
            <a:ext cx="4202537" cy="49676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Project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73736"/>
            <a:ext cx="2788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0F5F3"/>
                </a:solidFill>
                <a:latin typeface="Aptos"/>
              </a:defRPr>
            </a:pPr>
            <a:r>
              <a:t>End-to-end analytics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Project Outcome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3532" y="1023832"/>
            <a:ext cx="10862187" cy="45174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bIns="109728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2263F"/>
                </a:solidFill>
                <a:latin typeface="Aptos Display"/>
              </a:defRPr>
            </a:pPr>
            <a:r>
              <a:rPr dirty="0"/>
              <a:t>What this project demonstrates</a:t>
            </a:r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  <a:defRPr sz="1300">
                <a:solidFill>
                  <a:srgbClr val="26303A"/>
                </a:solidFill>
                <a:latin typeface="Aptos"/>
              </a:defRPr>
            </a:pPr>
            <a:r>
              <a:rPr sz="2000" dirty="0"/>
              <a:t>Automated file organization and movement from email to cloud storage.</a:t>
            </a:r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  <a:defRPr sz="1300">
                <a:solidFill>
                  <a:srgbClr val="26303A"/>
                </a:solidFill>
                <a:latin typeface="Aptos"/>
              </a:defRPr>
            </a:pPr>
            <a:r>
              <a:rPr sz="2000" dirty="0"/>
              <a:t>Connected Google Drive data access with Python and Power BI.</a:t>
            </a:r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  <a:defRPr sz="1300">
                <a:solidFill>
                  <a:srgbClr val="26303A"/>
                </a:solidFill>
                <a:latin typeface="Aptos"/>
              </a:defRPr>
            </a:pPr>
            <a:r>
              <a:rPr sz="2000" dirty="0"/>
              <a:t>Applied Power Query for data cleaning and transformation.</a:t>
            </a:r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  <a:defRPr sz="1300">
                <a:solidFill>
                  <a:srgbClr val="26303A"/>
                </a:solidFill>
                <a:latin typeface="Aptos"/>
              </a:defRPr>
            </a:pPr>
            <a:r>
              <a:rPr sz="2000" dirty="0"/>
              <a:t>Used DAX to create analytical measures and business metrics.</a:t>
            </a:r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  <a:defRPr sz="1300">
                <a:solidFill>
                  <a:srgbClr val="26303A"/>
                </a:solidFill>
                <a:latin typeface="Aptos"/>
              </a:defRPr>
            </a:pPr>
            <a:r>
              <a:rPr sz="2000" dirty="0"/>
              <a:t>Built interactive views covering credit score, customer age, credit mix, payment </a:t>
            </a:r>
            <a:r>
              <a:rPr sz="2000" dirty="0" err="1"/>
              <a:t>behaviour</a:t>
            </a:r>
            <a:r>
              <a:rPr sz="2000" dirty="0"/>
              <a:t>, LTV, potential customers, loans and credit cards.</a:t>
            </a:r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  <a:defRPr sz="1300">
                <a:solidFill>
                  <a:srgbClr val="26303A"/>
                </a:solidFill>
                <a:latin typeface="Aptos"/>
              </a:defRPr>
            </a:pPr>
            <a:r>
              <a:rPr sz="2000" dirty="0"/>
              <a:t>Converted dashboard observations into quantified business insights.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06440"/>
            <a:ext cx="10744200" cy="502920"/>
          </a:xfrm>
          <a:prstGeom prst="roundRect">
            <a:avLst/>
          </a:prstGeom>
          <a:solidFill>
            <a:srgbClr val="1D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t>Power BI  |  Power Query  |  DAX  |  Python  |  Google Drive API  |  Power Automate  |  Outlook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516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kunal kashyap</cp:lastModifiedBy>
  <cp:revision>3</cp:revision>
  <dcterms:created xsi:type="dcterms:W3CDTF">2013-01-27T09:14:16Z</dcterms:created>
  <dcterms:modified xsi:type="dcterms:W3CDTF">2026-10-02T18:13:25Z</dcterms:modified>
  <cp:category/>
</cp:coreProperties>
</file>