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112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22.22</c:v>
                </c:pt>
                <c:pt idx="2">
                  <c:v>14.29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B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6E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6E76"/>
                    </a:solidFill>
                    <a:latin typeface="Arial"/>
                  </a:rPr>
                  <a:t>Churn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112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Refferal</c:v>
                  </c:pt>
                  <c:pt idx="1">
                    <c:v>Paid</c:v>
                  </c:pt>
                  <c:pt idx="2">
                    <c:v>Organic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83.33</c:v>
                </c:pt>
                <c:pt idx="1">
                  <c:v>16.67</c:v>
                </c:pt>
                <c:pt idx="2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9C0C2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Monthly</c:v>
                  </c:pt>
                  <c:pt idx="1">
                    <c:v>Annual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55.56</c:v>
                </c:pt>
                <c:pt idx="1">
                  <c:v>8.33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112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B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Karnataka</c:v>
                  </c:pt>
                  <c:pt idx="1">
                    <c:v>Meghalaya</c:v>
                  </c:pt>
                  <c:pt idx="2">
                    <c:v>Telangana</c:v>
                  </c:pt>
                  <c:pt idx="3">
                    <c:v>Delhi</c:v>
                  </c:pt>
                  <c:pt idx="4">
                    <c:v>Kathmandu</c:v>
                  </c:pt>
                  <c:pt idx="5">
                    <c:v>Maharashtra</c:v>
                  </c:pt>
                  <c:pt idx="6">
                    <c:v>Nagaland</c:v>
                  </c:pt>
                  <c:pt idx="7">
                    <c:v>Rajasthan</c:v>
                  </c:pt>
                  <c:pt idx="8">
                    <c:v>Uttar Pradesh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66.67</c:v>
                </c:pt>
                <c:pt idx="2">
                  <c:v>50</c:v>
                </c:pt>
                <c:pt idx="3">
                  <c:v>25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1B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200000"/>
          <a:lstStyle/>
          <a:p>
            <a:pPr>
              <a:defRPr sz="10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112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33.33</c:v>
                </c:pt>
                <c:pt idx="1">
                  <c:v>22.22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9C0C2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India</c:v>
                  </c:pt>
                  <c:pt idx="1">
                    <c:v>Nepal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31.58</c:v>
                </c:pt>
                <c:pt idx="1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7171D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0"/>
            <a:ext cx="54864" cy="6858000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OTT subscribers with SQL + Python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demographics, subscription tiers &amp; support signals)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800600"/>
            <a:ext cx="2194560" cy="0"/>
          </a:xfrm>
          <a:prstGeom prst="line">
            <a:avLst/>
          </a:prstGeom>
          <a:noFill/>
          <a:ln w="25400">
            <a:solidFill>
              <a:srgbClr val="E11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Kunal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•  SQL &amp; Python Churn Analytics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64040" y="1005840"/>
            <a:ext cx="777240" cy="77724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1" name="Text 9"/>
          <p:cNvSpPr/>
          <p:nvPr/>
        </p:nvSpPr>
        <p:spPr>
          <a:xfrm>
            <a:off x="946404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3252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28.57%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73252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926080"/>
            <a:ext cx="1920240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3252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4114800"/>
            <a:ext cx="1920240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users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32520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hyper-competitive OTT landscape (Netflix, Hotstar, Prime), retention is the only way to survive. This project takes on the role of a Data Analyst tasked with identifying high-risk subscribers using a multi-dimensional dataset spanning customer demographics, subscription tiers, and support escalations.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3328416"/>
            <a:ext cx="292608" cy="292608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13048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895344"/>
            <a:ext cx="292608" cy="292608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813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462272"/>
            <a:ext cx="292608" cy="292608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3799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Escalations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1508760"/>
            <a:ext cx="4023360" cy="4434840"/>
          </a:xfrm>
          <a:prstGeom prst="roundRect">
            <a:avLst>
              <a:gd name="adj" fmla="val 2273"/>
            </a:avLst>
          </a:prstGeom>
          <a:solidFill>
            <a:srgbClr val="0E0E12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 ANALYSIS ANSWERS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0" y="2286000"/>
            <a:ext cx="457200" cy="45720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22311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25786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left, or will leave, in the future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09560" y="3456432"/>
            <a:ext cx="457200" cy="45720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3920" y="3749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behavior preceded each cancellation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09560" y="4626864"/>
            <a:ext cx="457200" cy="45720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392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3920" y="49194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“danger zone” — the point a user is likely to leave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Project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892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11680"/>
            <a:ext cx="347472" cy="347472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947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Python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2185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mysql.connector / sqlite3 + pandas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4892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70048"/>
            <a:ext cx="347472" cy="347472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88720" y="2843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 — cleaning, features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4892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28416"/>
            <a:ext cx="347472" cy="347472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88720" y="3502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95344"/>
            <a:ext cx="4892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986784"/>
            <a:ext cx="347472" cy="347472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922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88720" y="4160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 &amp; action items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2103120"/>
            <a:ext cx="0" cy="3209544"/>
          </a:xfrm>
          <a:prstGeom prst="line">
            <a:avLst/>
          </a:prstGeom>
          <a:noFill/>
          <a:ln w="19050">
            <a:solidFill>
              <a:srgbClr val="E4E2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1938528"/>
            <a:ext cx="365760" cy="365760"/>
          </a:xfrm>
          <a:prstGeom prst="ellipse">
            <a:avLst/>
          </a:prstGeom>
          <a:solidFill>
            <a:srgbClr val="0E0E12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192024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SQL database to Python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103120"/>
            <a:ext cx="0" cy="3209544"/>
          </a:xfrm>
          <a:prstGeom prst="line">
            <a:avLst/>
          </a:prstGeom>
          <a:noFill/>
          <a:ln w="19050">
            <a:solidFill>
              <a:srgbClr val="E4E2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473452"/>
            <a:ext cx="365760" cy="365760"/>
          </a:xfrm>
          <a:prstGeom prst="ellipse">
            <a:avLst/>
          </a:prstGeom>
          <a:solidFill>
            <a:srgbClr val="0E0E12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24734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24551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 via SQL query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2103120"/>
            <a:ext cx="0" cy="3209544"/>
          </a:xfrm>
          <a:prstGeom prst="line">
            <a:avLst/>
          </a:prstGeom>
          <a:noFill/>
          <a:ln w="19050">
            <a:solidFill>
              <a:srgbClr val="E4E2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3008376"/>
            <a:ext cx="365760" cy="365760"/>
          </a:xfrm>
          <a:prstGeom prst="ellipse">
            <a:avLst/>
          </a:prstGeom>
          <a:solidFill>
            <a:srgbClr val="0E0E12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299008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(types, nulls, naming)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2103120"/>
            <a:ext cx="0" cy="3209544"/>
          </a:xfrm>
          <a:prstGeom prst="line">
            <a:avLst/>
          </a:prstGeom>
          <a:noFill/>
          <a:ln w="19050">
            <a:solidFill>
              <a:srgbClr val="E4E2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3543300"/>
            <a:ext cx="365760" cy="365760"/>
          </a:xfrm>
          <a:prstGeom prst="ellipse">
            <a:avLst/>
          </a:prstGeom>
          <a:solidFill>
            <a:srgbClr val="0E0E12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629400" y="352501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(churn flag, tenure)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63640" y="2103120"/>
            <a:ext cx="0" cy="3209544"/>
          </a:xfrm>
          <a:prstGeom prst="line">
            <a:avLst/>
          </a:prstGeom>
          <a:noFill/>
          <a:ln w="19050">
            <a:solidFill>
              <a:srgbClr val="E4E2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4078224"/>
            <a:ext cx="365760" cy="365760"/>
          </a:xfrm>
          <a:prstGeom prst="ellipse">
            <a:avLst/>
          </a:prstGeom>
          <a:solidFill>
            <a:srgbClr val="0E0E12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29400" y="40599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group by, aggregation, pivots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63640" y="2103120"/>
            <a:ext cx="0" cy="3209544"/>
          </a:xfrm>
          <a:prstGeom prst="line">
            <a:avLst/>
          </a:prstGeom>
          <a:noFill/>
          <a:ln w="19050">
            <a:solidFill>
              <a:srgbClr val="E4E2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4613148"/>
            <a:ext cx="365760" cy="365760"/>
          </a:xfrm>
          <a:prstGeom prst="ellipse">
            <a:avLst/>
          </a:prstGeom>
          <a:solidFill>
            <a:srgbClr val="0E0E12"/>
          </a:solidFill>
          <a:ln/>
        </p:spPr>
      </p:sp>
      <p:sp>
        <p:nvSpPr>
          <p:cNvPr id="48" name="Text 46"/>
          <p:cNvSpPr/>
          <p:nvPr/>
        </p:nvSpPr>
        <p:spPr>
          <a:xfrm>
            <a:off x="6080760" y="4613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29400" y="459486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— matplotlib &amp; seaborn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63640" y="2103120"/>
            <a:ext cx="0" cy="3209544"/>
          </a:xfrm>
          <a:prstGeom prst="line">
            <a:avLst/>
          </a:prstGeom>
          <a:noFill/>
          <a:ln w="19050">
            <a:solidFill>
              <a:srgbClr val="E4E2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5148072"/>
            <a:ext cx="365760" cy="365760"/>
          </a:xfrm>
          <a:prstGeom prst="ellipse">
            <a:avLst/>
          </a:prstGeom>
          <a:solidFill>
            <a:srgbClr val="D7A03D"/>
          </a:solidFill>
          <a:ln/>
        </p:spPr>
      </p:sp>
      <p:sp>
        <p:nvSpPr>
          <p:cNvPr id="52" name="Text 50"/>
          <p:cNvSpPr/>
          <p:nvPr/>
        </p:nvSpPr>
        <p:spPr>
          <a:xfrm>
            <a:off x="608076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629400" y="512978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 &amp; recommendations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Schema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customer_churn  —  3 tables joined on customerid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db_customer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429000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59736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747772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47772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035808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35808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323844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23844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611880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11880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899916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99916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87952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187952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475988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475988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18745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E1122D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1874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db_subscription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297680" y="2395728"/>
            <a:ext cx="3429000" cy="3296412"/>
          </a:xfrm>
          <a:prstGeom prst="roundRect">
            <a:avLst>
              <a:gd name="adj" fmla="val 1664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2459736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2747772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2747772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subscription_start_date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3035808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3035808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subscription_type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3323844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3323844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renewal_date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3611880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3611880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plan_type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34840" y="3899916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899916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contract_type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34840" y="4187952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4187952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cancellation_date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34840" y="4475988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4475988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cancellation_reason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34840" y="4764024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4764024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monthly_charges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34840" y="5052060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5052060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434840" y="5340096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5340096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churn_score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46720" y="18745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1874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db_support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046720" y="2395728"/>
            <a:ext cx="3429000" cy="1568196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11312" y="2459736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183880" y="2747772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1312" y="2747772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complaint_date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83880" y="3035808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11312" y="3035808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183880" y="3323844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11312" y="3323844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csat_score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183880" y="3611880"/>
            <a:ext cx="3154680" cy="0"/>
          </a:xfrm>
          <a:prstGeom prst="line">
            <a:avLst/>
          </a:prstGeom>
          <a:noFill/>
          <a:ln w="6350">
            <a:solidFill>
              <a:srgbClr val="E4E2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11312" y="3611880"/>
            <a:ext cx="3099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977640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726680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48640" y="6053328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0E0E12"/>
          </a:solidFill>
          <a:ln/>
        </p:spPr>
      </p:sp>
      <p:sp>
        <p:nvSpPr>
          <p:cNvPr id="62" name="Text 60"/>
          <p:cNvSpPr/>
          <p:nvPr/>
        </p:nvSpPr>
        <p:spPr>
          <a:xfrm>
            <a:off x="822960" y="605332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with mysql.connector → pd.read_sql()  ·  joined via subscription.merge(customer).merge(support), how=‘left’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824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customer_name for clarity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3736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6824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noisy columns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95160" y="20116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&amp; pincode (0% / near-empty fill rate)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0896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0540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dob, subscription_start_date, renewal_date, cancellation_date, complaint_date → datetime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92608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10896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0540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categories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95160" y="33832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‘Men’/‘Women’ → ‘Male’/‘Female’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48056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4256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missing values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80160" y="47548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blank country values imputed using a state → country lookup map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29768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48056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44256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support logs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95160" y="47548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complaint rows → 7 unique customers (kept latest by date)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calculated columns created from raw fields: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0E0E1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churn_flag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97510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np.where(cancellation_date.notna(), 1, 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0" y="197510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churn indicator per subscriber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9748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0E0E1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75234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(today − dob).days / 365.25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0" y="275234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in years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0E0E1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352958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cancellation_date − start_date (or today if active)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5295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 customer stayed subscribed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5196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0E0E1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complaint_count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430682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groupby(customerid).transform('count')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0" y="430682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support complaints filed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2920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0E0E1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0292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churn_risk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50840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np.select on churn_score bands (&lt;50 / 50–70 / ≥70)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50840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 / high risk tier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Formulas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churned customers / total customers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88536" y="150876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8536" y="1508760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17136" y="1947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churn 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28432" y="150876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1508760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57032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Plan / State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57032" y="1947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rate GROUP BY plan_type / state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32888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42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2971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SUM(monthly_charges) / COUNT(customers)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88536" y="2532888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88536" y="2532888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2642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Tenure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17136" y="2971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AVG(cancellation_date or today − start_date)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28432" y="2532888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2532888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26" name="Text 24"/>
          <p:cNvSpPr/>
          <p:nvPr/>
        </p:nvSpPr>
        <p:spPr>
          <a:xfrm>
            <a:off x="8257032" y="2642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57032" y="2971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SUM(monthly_charges) WHERE churn_flag = 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557016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557016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666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" y="39959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COUNT(escalations = Y) / COUNT(customers) × 100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88536" y="3557016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88536" y="3557016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34" name="Text 32"/>
          <p:cNvSpPr/>
          <p:nvPr/>
        </p:nvSpPr>
        <p:spPr>
          <a:xfrm>
            <a:off x="4517136" y="3666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Complaints / Customer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17136" y="39959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COUNT(complaints) / COUNT(DISTINCT customerid)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28432" y="3557016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28432" y="3557016"/>
            <a:ext cx="64008" cy="896112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38" name="Text 36"/>
          <p:cNvSpPr/>
          <p:nvPr/>
        </p:nvSpPr>
        <p:spPr>
          <a:xfrm>
            <a:off x="8257032" y="3666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→ Churn Correlation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57032" y="39959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corr(escalations, churn_flag)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28.57%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₹18.85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(Monthly)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4983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 (Days)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749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520440" y="4983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Complaints / User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₹73.94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355080" y="4983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52560" y="3749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4069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89720" y="4983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Escalation–Churn Corr.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Plan Type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08760"/>
            <a:ext cx="4114800" cy="4572000"/>
          </a:xfrm>
          <a:prstGeom prst="roundRect">
            <a:avLst>
              <a:gd name="adj" fmla="val 2222"/>
            </a:avLst>
          </a:prstGeom>
          <a:solidFill>
            <a:srgbClr val="0E0E12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18120" y="21488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4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Basic-plan subscribers churn at 60% — 4x the Premium rate. Because Basic carries the lowest ARPU, this concentration of loss limits the revenue impact today, but signals a weak long-term acquisition funnel if left unaddressed.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18120" y="4297680"/>
            <a:ext cx="3291840" cy="0"/>
          </a:xfrm>
          <a:prstGeom prst="line">
            <a:avLst/>
          </a:prstGeom>
          <a:noFill/>
          <a:ln w="12700">
            <a:solidFill>
              <a:srgbClr val="2A2A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4480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60.00%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818120" y="4983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plan churn rate — highest of all tiers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Source &amp; Contract 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Subscription (Acquisition) 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9904" y="1600200"/>
            <a:ext cx="0" cy="4480560"/>
          </a:xfrm>
          <a:prstGeom prst="line">
            <a:avLst/>
          </a:prstGeom>
          <a:noFill/>
          <a:ln w="12700">
            <a:solidFill>
              <a:srgbClr val="E4E2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Contract Type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78308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98932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0E0E12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contracts churn 6.7x more than Annual (55.6% vs 8.3%)  ·  Referral-acquired users are the highest-risk cohort (83.3%)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State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1247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03504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0E0E1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shows 100% churn (small base) — flagged for root-cause review alongside Meghalaya (66.7%) and Telangana (50%).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&amp; Country Breakdown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Gender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9904" y="1600200"/>
            <a:ext cx="0" cy="4480560"/>
          </a:xfrm>
          <a:prstGeom prst="line">
            <a:avLst/>
          </a:prstGeom>
          <a:noFill/>
          <a:ln w="12700">
            <a:solidFill>
              <a:srgbClr val="E4E2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Country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78308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98932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0E0E12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subscribers churn somewhat more than Male (33.3% vs 22.2%)  ·  Nepal’s 2-customer base shows 0% churn vs 31.6% for India — sample too small to act on yet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Escalations Drive Churn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0E0E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 →  Churn Flag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4251960"/>
            <a:ext cx="3840480" cy="256032"/>
          </a:xfrm>
          <a:prstGeom prst="roundRect">
            <a:avLst>
              <a:gd name="adj" fmla="val 50000"/>
            </a:avLst>
          </a:prstGeom>
          <a:solidFill>
            <a:srgbClr val="2A2A32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4251960"/>
            <a:ext cx="2957170" cy="256032"/>
          </a:xfrm>
          <a:prstGeom prst="roundRect">
            <a:avLst>
              <a:gd name="adj" fmla="val 50000"/>
            </a:avLst>
          </a:prstGeom>
          <a:solidFill>
            <a:srgbClr val="E112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relationship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0" y="5074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1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0896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/ User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1600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heatmap shows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9320" y="2103120"/>
            <a:ext cx="329184" cy="329184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churn_score correlates 0.86 with churn_flag — the score is doing its job.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3063240"/>
            <a:ext cx="329184" cy="329184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99008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support tickets (escalations = Y) correlate 0.77 with churn — among the strongest behavioral signals available.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89320" y="4023360"/>
            <a:ext cx="329184" cy="329184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395020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Monthly/annual contract_type correlates 0.52–0.64 with churn and risk — confirms contract length as a lever.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89320" y="4983480"/>
            <a:ext cx="329184" cy="329184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49103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plan_type show weak correlation with churn — not meaningful drivers on their own.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1024128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81912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28.57% against a Retention Rate of 71.43% across the 21-customer base.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508760"/>
            <a:ext cx="54864" cy="1024128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581912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Basic-plan subscribers churn the most (60%) — but at low ARPU, so revenue impact is contained for now.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79192"/>
            <a:ext cx="54864" cy="1024128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52344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contracts churn 6.7x more than Annual contracts (55.6% vs 8.3%) — the single strongest lever available.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679192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679192"/>
            <a:ext cx="54864" cy="1024128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752344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Referral-acquired customers are highest risk (83.3% churn) versus 0% for Organic acquisition.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9624"/>
            <a:ext cx="54864" cy="1024128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22776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and Meghalaya show the sharpest regional spikes and warrant a root-cause review.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9624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849624"/>
            <a:ext cx="54864" cy="1024128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922776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escalations correlate strongly with churn (r = 0.77) — unresolved complaints are a leading indicator, not just a symptom.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20056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020056"/>
            <a:ext cx="54864" cy="1024128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93208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from already-churned users totals ₹73.94/mo — about 18.7% of tracked monthly revenue.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 Items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Karnataka &amp; Meghalaya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price changes, service issues, or a competitor push in the regions with the sharpest churn spikes.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Basic-plan pricing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recent pricing or policy changes on Basic drove the September cancellation cluster.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monthly → annual migration offer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monthly subscribers with an incentive to move to annual, given the 6.7x churn gap.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17171D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E1122D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187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high &amp; medium churn-risk cohorts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CLTV and complaint history; proactively reach out via email, SMS, and calls before renewal.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&amp; Resume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2286000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4E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an end-to-end churn analytics pipeline for an OTT subscription dataset (20+ KPIs), identifying a 28.57% overall churn rate and surfacing that monthly-contract subscribers churned at 55.6% — 6.7x the 8.3% annual-contract rate — directly attributing ₹73.94/mo in revenue leakage to at-risk customers and enabling a targeted contract-migration retention strategy.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E0E1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572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↔ Python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4572000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E0E12"/>
          </a:solidFill>
          <a:ln/>
        </p:spPr>
      </p:sp>
      <p:sp>
        <p:nvSpPr>
          <p:cNvPr id="12" name="Text 10"/>
          <p:cNvSpPr/>
          <p:nvPr/>
        </p:nvSpPr>
        <p:spPr>
          <a:xfrm>
            <a:off x="4288536" y="4572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8432" y="4572000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E0E12"/>
          </a:solidFill>
          <a:ln/>
        </p:spPr>
      </p:sp>
      <p:sp>
        <p:nvSpPr>
          <p:cNvPr id="14" name="Text 12"/>
          <p:cNvSpPr/>
          <p:nvPr/>
        </p:nvSpPr>
        <p:spPr>
          <a:xfrm>
            <a:off x="8028432" y="4572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3892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E0E1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389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Aggregation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88536" y="513892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E0E12"/>
          </a:solidFill>
          <a:ln/>
        </p:spPr>
      </p:sp>
      <p:sp>
        <p:nvSpPr>
          <p:cNvPr id="18" name="Text 16"/>
          <p:cNvSpPr/>
          <p:nvPr/>
        </p:nvSpPr>
        <p:spPr>
          <a:xfrm>
            <a:off x="4288536" y="51389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28432" y="513892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E0E12"/>
          </a:solidFill>
          <a:ln/>
        </p:spPr>
      </p:sp>
      <p:sp>
        <p:nvSpPr>
          <p:cNvPr id="20" name="Text 18"/>
          <p:cNvSpPr/>
          <p:nvPr/>
        </p:nvSpPr>
        <p:spPr>
          <a:xfrm>
            <a:off x="8028432" y="51389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across E-commerce, SaaS, Fintech, and Adtech subscription businesses.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122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41248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&amp; Customer Intelligence — a complete SQL + Python analytics 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3977640"/>
            <a:ext cx="2194560" cy="0"/>
          </a:xfrm>
          <a:prstGeom prst="line">
            <a:avLst/>
          </a:prstGeom>
          <a:noFill/>
          <a:ln w="25400">
            <a:solidFill>
              <a:srgbClr val="E11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Kunal  ·  Data Analyst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 n keep growing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2026-09-13T17:14:42Z</dcterms:created>
  <dcterms:modified xsi:type="dcterms:W3CDTF">2026-09-13T17:14:42Z</dcterms:modified>
</cp:coreProperties>
</file>