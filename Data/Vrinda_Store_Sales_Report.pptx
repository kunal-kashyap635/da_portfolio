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 of Amount (₹M)</c:v>
                </c:pt>
              </c:strCache>
            </c:strRef>
          </c:tx>
          <c:spPr>
            <a:solidFill>
              <a:srgbClr val="2F3C7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1.82</c:v>
                </c:pt>
                <c:pt idx="1">
                  <c:v>1.88</c:v>
                </c:pt>
                <c:pt idx="2">
                  <c:v>1.93</c:v>
                </c:pt>
                <c:pt idx="3">
                  <c:v>1.83</c:v>
                </c:pt>
                <c:pt idx="4">
                  <c:v>1.8</c:v>
                </c:pt>
                <c:pt idx="5">
                  <c:v>1.75</c:v>
                </c:pt>
                <c:pt idx="6">
                  <c:v>1.77</c:v>
                </c:pt>
                <c:pt idx="7">
                  <c:v>1.81</c:v>
                </c:pt>
                <c:pt idx="8">
                  <c:v>1.69</c:v>
                </c:pt>
                <c:pt idx="9">
                  <c:v>1.67</c:v>
                </c:pt>
                <c:pt idx="10">
                  <c:v>1.62</c:v>
                </c:pt>
                <c:pt idx="11">
                  <c:v>1.62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lineChart>
        <c:varyColors val="0"/>
        <c:ser>
          <c:idx val="1"/>
          <c:order val="1"/>
          <c:tx>
            <c:strRef>
              <c:f>Sheet1!$C$1</c:f>
              <c:strCache>
                <c:ptCount val="1"/>
                <c:pt idx="0">
                  <c:v>Count of Order ID</c:v>
                </c:pt>
              </c:strCache>
            </c:strRef>
          </c:tx>
          <c:spPr>
            <a:solidFill>
              <a:srgbClr val="F96167"/>
            </a:solidFill>
            <a:ln w="38100" cap="flat">
              <a:solidFill>
                <a:srgbClr val="F9616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96167"/>
              </a:solidFill>
              <a:ln w="9525" cap="flat">
                <a:solidFill>
                  <a:srgbClr val="F96167"/>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2702</c:v>
                </c:pt>
                <c:pt idx="1">
                  <c:v>2750</c:v>
                </c:pt>
                <c:pt idx="2">
                  <c:v>2819</c:v>
                </c:pt>
                <c:pt idx="3">
                  <c:v>2685</c:v>
                </c:pt>
                <c:pt idx="4">
                  <c:v>2617</c:v>
                </c:pt>
                <c:pt idx="5">
                  <c:v>2597</c:v>
                </c:pt>
                <c:pt idx="6">
                  <c:v>2579</c:v>
                </c:pt>
                <c:pt idx="7">
                  <c:v>2617</c:v>
                </c:pt>
                <c:pt idx="8">
                  <c:v>2490</c:v>
                </c:pt>
                <c:pt idx="9">
                  <c:v>2424</c:v>
                </c:pt>
                <c:pt idx="10">
                  <c:v>2383</c:v>
                </c:pt>
                <c:pt idx="11">
                  <c:v>2384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F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6EF"/>
              </a:solidFill>
              <a:prstDash val="solid"/>
              <a:round/>
            </a:ln>
          </c:spPr>
        </c:majorGridlines>
        <c:title>
          <c:tx>
            <c:rich>
              <a:bodyPr/>
              <a:lstStyle/>
              <a:p>
                <a:pPr>
                  <a:defRPr sz="1000" b="0" i="0" u="none" strike="noStrike">
                    <a:solidFill>
                      <a:srgbClr val="5B5F6B"/>
                    </a:solidFill>
                    <a:latin typeface="Arial"/>
                  </a:defRPr>
                </a:pPr>
                <a:r>
                  <a:rPr sz="1000" b="0" i="0" u="none" strike="noStrike">
                    <a:solidFill>
                      <a:srgbClr val="5B5F6B"/>
                    </a:solidFill>
                    <a:latin typeface="Arial"/>
                  </a:rPr>
                  <a:t>Sum of Amount (₹M)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F6B"/>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sz="1000" b="0" i="0" u="none" strike="noStrike">
                    <a:solidFill>
                      <a:srgbClr val="5B5F6B"/>
                    </a:solidFill>
                    <a:latin typeface="Arial"/>
                  </a:defRPr>
                </a:pPr>
                <a:r>
                  <a:rPr sz="1000" b="0" i="0" u="none" strike="noStrike">
                    <a:solidFill>
                      <a:srgbClr val="5B5F6B"/>
                    </a:solidFill>
                    <a:latin typeface="Arial"/>
                  </a:rPr>
                  <a:t>Count of Order ID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F6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F6B"/>
                </a:solidFill>
                <a:latin typeface="Arial"/>
              </a:defRPr>
            </a:pPr>
            <a:endParaRPr lang="en-US"/>
          </a:p>
        </c:txPr>
        <c:crossAx val="2094734553"/>
        <c:crosses val="autoZero"/>
        <c:auto val="1"/>
        <c:lblAlgn val="ctr"/>
        <c:noMultiLvlLbl val="1"/>
      </c:catAx>
      <c:spPr>
        <a:noFill/>
        <a:ln>
          <a:noFill/>
        </a:ln>
        <a:effectLst/>
      </c:spPr>
    </c:plotArea>
    <c:legend>
      <c:legendPos val="r"/>
      <c:overlay val="0"/>
      <c:txPr>
        <a:bodyPr/>
        <a:lstStyle/>
        <a:p>
          <a:pPr>
            <a:defRPr sz="1100">
              <a:solidFill>
                <a:srgbClr val="5B5F6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F9E795"/>
              </a:solidFill>
              <a:effectLst/>
            </c:spPr>
          </c:dPt>
          <c:dPt>
            <c:idx val="1"/>
            <c:bubble3D val="0"/>
            <c:spPr>
              <a:solidFill>
                <a:srgbClr val="F96167"/>
              </a:solidFill>
              <a:effectLst/>
            </c:spPr>
          </c:dPt>
          <c:dPt>
            <c:idx val="2"/>
            <c:bubble3D val="0"/>
            <c:spPr>
              <a:solidFill>
                <a:srgbClr val="B7BEDD"/>
              </a:solidFill>
              <a:effectLst/>
            </c:spPr>
          </c:dPt>
          <c:dPt>
            <c:idx val="3"/>
            <c:bubble3D val="0"/>
            <c:spPr>
              <a:solidFill>
                <a:srgbClr val="2F3C7E"/>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Cancelled</c:v>
                </c:pt>
                <c:pt idx="1">
                  <c:v>Delivered</c:v>
                </c:pt>
                <c:pt idx="2">
                  <c:v>Refunded</c:v>
                </c:pt>
                <c:pt idx="3">
                  <c:v>Returned</c:v>
                </c:pt>
              </c:strCache>
            </c:strRef>
          </c:cat>
          <c:val>
            <c:numRef>
              <c:f>Sheet1!$B$2:$B$5</c:f>
              <c:numCache>
                <c:ptCount val="4"/>
                <c:pt idx="0">
                  <c:v>2.7</c:v>
                </c:pt>
                <c:pt idx="1">
                  <c:v>92.3</c:v>
                </c:pt>
                <c:pt idx="2">
                  <c:v>1.7</c:v>
                </c:pt>
                <c:pt idx="3">
                  <c:v>3.4</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Sum of Amount (₹M)</c:v>
                </c:pt>
              </c:strCache>
            </c:strRef>
          </c:tx>
          <c:spPr>
            <a:solidFill>
              <a:srgbClr val="F96167"/>
            </a:solidFill>
            <a:effectLst/>
          </c:spPr>
          <c:invertIfNegative val="0"/>
          <c:dLbls>
            <c:numFmt formatCode="0.00" sourceLinked="0"/>
            <c:txPr>
              <a:bodyPr/>
              <a:lstStyle/>
              <a:p>
                <a:pPr>
                  <a:defRPr b="0" i="0" strike="noStrike" sz="1100" u="none">
                    <a:solidFill>
                      <a:srgbClr val="2F3C7E"/>
                    </a:solidFill>
                    <a:latin typeface="Arial"/>
                  </a:defRPr>
                </a:pPr>
              </a:p>
            </c:txPr>
            <c:showLegendKey val="0"/>
            <c:showVal val="1"/>
            <c:showCatName val="0"/>
            <c:showSerName val="0"/>
            <c:showPercent val="0"/>
            <c:showBubbleSize val="0"/>
            <c:showLeaderLines val="0"/>
          </c:dLbls>
          <c:cat>
            <c:multiLvlStrRef>
              <c:f>Sheet1!$A$2:$A$11</c:f>
              <c:multiLvlStrCache>
                <c:ptCount val="10"/>
                <c:lvl>
                  <c:pt idx="0">
                    <c:v>Haryana</c:v>
                  </c:pt>
                  <c:pt idx="1">
                    <c:v>Andhra Pradesh</c:v>
                  </c:pt>
                  <c:pt idx="2">
                    <c:v>West Bengal</c:v>
                  </c:pt>
                  <c:pt idx="3">
                    <c:v>Kerala</c:v>
                  </c:pt>
                  <c:pt idx="4">
                    <c:v>Delhi</c:v>
                  </c:pt>
                  <c:pt idx="5">
                    <c:v>Tamil Nadu</c:v>
                  </c:pt>
                  <c:pt idx="6">
                    <c:v>Telangana</c:v>
                  </c:pt>
                  <c:pt idx="7">
                    <c:v>Uttar Pradesh</c:v>
                  </c:pt>
                  <c:pt idx="8">
                    <c:v>Karnataka</c:v>
                  </c:pt>
                  <c:pt idx="9">
                    <c:v>Maharashtra</c:v>
                  </c:pt>
                </c:lvl>
              </c:multiLvlStrCache>
            </c:multiLvlStrRef>
          </c:cat>
          <c:val>
            <c:numRef>
              <c:f>Sheet1!$B$2:$B$11</c:f>
              <c:numCache>
                <c:formatCode>General</c:formatCode>
                <c:ptCount val="10"/>
                <c:pt idx="0">
                  <c:v>0.81</c:v>
                </c:pt>
                <c:pt idx="1">
                  <c:v>0.92</c:v>
                </c:pt>
                <c:pt idx="2">
                  <c:v>0.92</c:v>
                </c:pt>
                <c:pt idx="3">
                  <c:v>1.01</c:v>
                </c:pt>
                <c:pt idx="4">
                  <c:v>1.27</c:v>
                </c:pt>
                <c:pt idx="5">
                  <c:v>1.68</c:v>
                </c:pt>
                <c:pt idx="6">
                  <c:v>1.71</c:v>
                </c:pt>
                <c:pt idx="7">
                  <c:v>2.1</c:v>
                </c:pt>
                <c:pt idx="8">
                  <c:v>2.65</c:v>
                </c:pt>
                <c:pt idx="9">
                  <c:v>2.99</c:v>
                </c:pt>
              </c:numCache>
            </c:numRef>
          </c:val>
        </c:ser>
        <c:dLbls>
          <c:numFmt formatCode="0.00" sourceLinked="0"/>
          <c:txPr>
            <a:bodyPr/>
            <a:lstStyle/>
            <a:p>
              <a:pPr>
                <a:defRPr b="0" i="0" strike="noStrike" sz="1100" u="none">
                  <a:solidFill>
                    <a:srgbClr val="2F3C7E"/>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F3C7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4E6EF"/>
              </a:solidFill>
              <a:prstDash val="solid"/>
              <a:round/>
            </a:ln>
          </c:spPr>
        </c:majorGridlines>
        <c:title>
          <c:tx>
            <c:rich>
              <a:bodyPr/>
              <a:lstStyle/>
              <a:p>
                <a:pPr>
                  <a:defRPr sz="1100" b="0" i="0" u="none" strike="noStrike">
                    <a:solidFill>
                      <a:srgbClr val="5B5F6B"/>
                    </a:solidFill>
                    <a:latin typeface="Arial"/>
                  </a:defRPr>
                </a:pPr>
                <a:r>
                  <a:rPr sz="1100" b="0" i="0" u="none" strike="noStrike">
                    <a:solidFill>
                      <a:srgbClr val="5B5F6B"/>
                    </a:solidFill>
                    <a:latin typeface="Arial"/>
                  </a:rPr>
                  <a:t>Sum of Amount (₹M)</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5F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F96167"/>
              </a:solidFill>
              <a:effectLst/>
            </c:spPr>
          </c:dPt>
          <c:dPt>
            <c:idx val="1"/>
            <c:bubble3D val="0"/>
            <c:spPr>
              <a:solidFill>
                <a:srgbClr val="2F3C7E"/>
              </a:solidFill>
              <a:effectLst/>
            </c:spPr>
          </c:dPt>
          <c:dLbls>
            <c:dLbl>
              <c:idx val="0"/>
              <c:numFmt formatCode="0&quot;%&quot;" sourceLinked="0"/>
              <c:spPr/>
              <c:txPr>
                <a:bodyPr/>
                <a:lstStyle/>
                <a:p>
                  <a:pPr>
                    <a:defRPr sz="1600" b="0" i="0" u="none" strike="noStrike">
                      <a:solidFill>
                        <a:srgbClr val="FFFFFF"/>
                      </a:solidFill>
                      <a:latin typeface="Calibri"/>
                    </a:defRPr>
                  </a:pPr>
                </a:p>
              </c:txPr>
              <c:showLegendKey val="0"/>
              <c:showVal val="1"/>
              <c:showCatName val="0"/>
              <c:showSerName val="0"/>
              <c:showPercent val="0"/>
              <c:showBubbleSize val="0"/>
            </c:dLbl>
            <c:dLbl>
              <c:idx val="1"/>
              <c:numFmt formatCode="0&quot;%&quot;" sourceLinked="0"/>
              <c:spPr/>
              <c:txPr>
                <a:bodyPr/>
                <a:lstStyle/>
                <a:p>
                  <a:pPr>
                    <a:defRPr sz="1600" b="0" i="0" u="none" strike="noStrike">
                      <a:solidFill>
                        <a:srgbClr val="FFFFFF"/>
                      </a:solidFill>
                      <a:latin typeface="Calibri"/>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Men</c:v>
                </c:pt>
                <c:pt idx="1">
                  <c:v>Women</c:v>
                </c:pt>
              </c:strCache>
            </c:strRef>
          </c:cat>
          <c:val>
            <c:numRef>
              <c:f>Sheet1!$B$2:$B$3</c:f>
              <c:numCache>
                <c:ptCount val="2"/>
                <c:pt idx="0">
                  <c:v>36</c:v>
                </c:pt>
                <c:pt idx="1">
                  <c:v>64</c:v>
                </c:pt>
              </c:numCache>
            </c:numRef>
          </c:val>
        </c:ser>
        <c:firstSliceAng val="0"/>
        <c:holeSize val="50"/>
      </c:doughnutChart>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Women</c:v>
                </c:pt>
              </c:strCache>
            </c:strRef>
          </c:tx>
          <c:spPr>
            <a:solidFill>
              <a:srgbClr val="F96167"/>
            </a:solidFill>
            <a:effectLst/>
          </c:spPr>
          <c:invertIfNegative val="0"/>
          <c:dLbls>
            <c:numFmt formatCode="0.0&quot;%&quot;" sourceLinked="0"/>
            <c:txPr>
              <a:bodyPr/>
              <a:lstStyle/>
              <a:p>
                <a:pPr>
                  <a:defRPr b="0" i="0" strike="noStrike" sz="1100" u="none">
                    <a:solidFill>
                      <a:srgbClr val="2F3C7E"/>
                    </a:solidFill>
                    <a:latin typeface="Arial"/>
                  </a:defRPr>
                </a:pPr>
              </a:p>
            </c:txPr>
            <c:showLegendKey val="0"/>
            <c:showVal val="1"/>
            <c:showCatName val="0"/>
            <c:showSerName val="0"/>
            <c:showPercent val="0"/>
            <c:showBubbleSize val="0"/>
            <c:showLeaderLines val="0"/>
          </c:dLbls>
          <c:cat>
            <c:multiLvlStrRef>
              <c:f>Sheet1!$A$2:$A$4</c:f>
              <c:multiLvlStrCache>
                <c:ptCount val="3"/>
                <c:lvl>
                  <c:pt idx="0">
                    <c:v>Adult</c:v>
                  </c:pt>
                  <c:pt idx="1">
                    <c:v>Seniors</c:v>
                  </c:pt>
                  <c:pt idx="2">
                    <c:v>Teenager</c:v>
                  </c:pt>
                </c:lvl>
              </c:multiLvlStrCache>
            </c:multiLvlStrRef>
          </c:cat>
          <c:val>
            <c:numRef>
              <c:f>Sheet1!$B$2:$B$4</c:f>
              <c:numCache>
                <c:formatCode>General</c:formatCode>
                <c:ptCount val="3"/>
                <c:pt idx="0">
                  <c:v>54.41</c:v>
                </c:pt>
                <c:pt idx="1">
                  <c:v>13.31</c:v>
                </c:pt>
                <c:pt idx="2">
                  <c:v>1.7</c:v>
                </c:pt>
              </c:numCache>
            </c:numRef>
          </c:val>
        </c:ser>
        <c:ser>
          <c:idx val="1"/>
          <c:order val="1"/>
          <c:tx>
            <c:strRef>
              <c:f>Sheet1!$C$1</c:f>
              <c:strCache>
                <c:ptCount val="1"/>
                <c:pt idx="0">
                  <c:v>Men</c:v>
                </c:pt>
              </c:strCache>
            </c:strRef>
          </c:tx>
          <c:spPr>
            <a:solidFill>
              <a:srgbClr val="2F3C7E"/>
            </a:solidFill>
            <a:effectLst/>
          </c:spPr>
          <c:invertIfNegative val="0"/>
          <c:dLbls>
            <c:numFmt formatCode="0.0&quot;%&quot;" sourceLinked="0"/>
            <c:txPr>
              <a:bodyPr/>
              <a:lstStyle/>
              <a:p>
                <a:pPr>
                  <a:defRPr b="0" i="0" strike="noStrike" sz="1100" u="none">
                    <a:solidFill>
                      <a:srgbClr val="2F3C7E"/>
                    </a:solidFill>
                    <a:latin typeface="Arial"/>
                  </a:defRPr>
                </a:pPr>
              </a:p>
            </c:txPr>
            <c:showLegendKey val="0"/>
            <c:showVal val="1"/>
            <c:showCatName val="0"/>
            <c:showSerName val="0"/>
            <c:showPercent val="0"/>
            <c:showBubbleSize val="0"/>
            <c:showLeaderLines val="0"/>
          </c:dLbls>
          <c:cat>
            <c:multiLvlStrRef>
              <c:f>Sheet1!$A$2:$A$4</c:f>
              <c:multiLvlStrCache>
                <c:ptCount val="3"/>
                <c:lvl>
                  <c:pt idx="0">
                    <c:v>Adult</c:v>
                  </c:pt>
                  <c:pt idx="1">
                    <c:v>Seniors</c:v>
                  </c:pt>
                  <c:pt idx="2">
                    <c:v>Teenager</c:v>
                  </c:pt>
                </c:lvl>
              </c:multiLvlStrCache>
            </c:multiLvlStrRef>
          </c:cat>
          <c:val>
            <c:numRef>
              <c:f>Sheet1!$C$2:$C$4</c:f>
              <c:numCache>
                <c:formatCode>General</c:formatCode>
                <c:ptCount val="3"/>
                <c:pt idx="0">
                  <c:v>24.17</c:v>
                </c:pt>
                <c:pt idx="1">
                  <c:v>5.72</c:v>
                </c:pt>
                <c:pt idx="2">
                  <c:v>0.69</c:v>
                </c:pt>
              </c:numCache>
            </c:numRef>
          </c:val>
        </c:ser>
        <c:dLbls>
          <c:numFmt formatCode="0.0&quot;%&quot;" sourceLinked="0"/>
          <c:txPr>
            <a:bodyPr/>
            <a:lstStyle/>
            <a:p>
              <a:pPr>
                <a:defRPr b="0" i="0" strike="noStrike" sz="1100" u="none">
                  <a:solidFill>
                    <a:srgbClr val="2F3C7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F3C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6EF"/>
              </a:solidFill>
              <a:prstDash val="solid"/>
              <a:round/>
            </a:ln>
          </c:spPr>
        </c:majorGridlines>
        <c:title>
          <c:tx>
            <c:rich>
              <a:bodyPr/>
              <a:lstStyle/>
              <a:p>
                <a:pPr>
                  <a:defRPr sz="1100" b="0" i="0" u="none" strike="noStrike">
                    <a:solidFill>
                      <a:srgbClr val="5B5F6B"/>
                    </a:solidFill>
                    <a:latin typeface="Arial"/>
                  </a:defRPr>
                </a:pPr>
                <a:r>
                  <a:rPr sz="1100" b="0" i="0" u="none" strike="noStrike">
                    <a:solidFill>
                      <a:srgbClr val="5B5F6B"/>
                    </a:solidFill>
                    <a:latin typeface="Arial"/>
                  </a:rPr>
                  <a:t>Share of Total Revenue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F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5F6B"/>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F9E795"/>
              </a:solidFill>
              <a:ln w="19050" cap="flat">
                <a:solidFill>
                  <a:srgbClr val="FFFFFF"/>
                </a:solidFill>
                <a:prstDash val="solid"/>
                <a:round/>
              </a:ln>
              <a:effectLst/>
            </c:spPr>
          </c:dPt>
          <c:dPt>
            <c:idx val="1"/>
            <c:bubble3D val="0"/>
            <c:spPr>
              <a:solidFill>
                <a:srgbClr val="F96167"/>
              </a:solidFill>
              <a:ln w="19050" cap="flat">
                <a:solidFill>
                  <a:srgbClr val="FFFFFF"/>
                </a:solidFill>
                <a:prstDash val="solid"/>
                <a:round/>
              </a:ln>
              <a:effectLst/>
            </c:spPr>
          </c:dPt>
          <c:dPt>
            <c:idx val="2"/>
            <c:bubble3D val="0"/>
            <c:spPr>
              <a:solidFill>
                <a:srgbClr val="2F3C7E"/>
              </a:solidFill>
              <a:ln w="19050" cap="flat">
                <a:solidFill>
                  <a:srgbClr val="FFFFFF"/>
                </a:solidFill>
                <a:prstDash val="solid"/>
                <a:round/>
              </a:ln>
              <a:effectLst/>
            </c:spPr>
          </c:dPt>
          <c:dPt>
            <c:idx val="3"/>
            <c:bubble3D val="0"/>
            <c:spPr>
              <a:solidFill>
                <a:srgbClr val="B7BEDD"/>
              </a:solidFill>
              <a:ln w="19050" cap="flat">
                <a:solidFill>
                  <a:srgbClr val="FFFFFF"/>
                </a:solidFill>
                <a:prstDash val="solid"/>
                <a:round/>
              </a:ln>
              <a:effectLst/>
            </c:spPr>
          </c:dPt>
          <c:dPt>
            <c:idx val="4"/>
            <c:bubble3D val="0"/>
            <c:spPr>
              <a:solidFill>
                <a:srgbClr val="6E77AE"/>
              </a:solidFill>
              <a:ln w="19050" cap="flat">
                <a:solidFill>
                  <a:srgbClr val="FFFFFF"/>
                </a:solidFill>
                <a:prstDash val="solid"/>
                <a:round/>
              </a:ln>
              <a:effectLst/>
            </c:spPr>
          </c:dPt>
          <c:dPt>
            <c:idx val="5"/>
            <c:bubble3D val="0"/>
            <c:spPr>
              <a:solidFill>
                <a:srgbClr val="9C8A1E"/>
              </a:solidFill>
              <a:ln w="19050" cap="flat">
                <a:solidFill>
                  <a:srgbClr val="FFFFFF"/>
                </a:solidFill>
                <a:prstDash val="solid"/>
                <a:round/>
              </a:ln>
              <a:effectLst/>
            </c:spPr>
          </c:dPt>
          <c:dPt>
            <c:idx val="6"/>
            <c:bubble3D val="0"/>
            <c:spPr>
              <a:solidFill>
                <a:srgbClr val="D8DAE8"/>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6"/>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Ajio</c:v>
                </c:pt>
                <c:pt idx="1">
                  <c:v>Amazon</c:v>
                </c:pt>
                <c:pt idx="2">
                  <c:v>Flipkart</c:v>
                </c:pt>
                <c:pt idx="3">
                  <c:v>Meesho</c:v>
                </c:pt>
                <c:pt idx="4">
                  <c:v>Myntra</c:v>
                </c:pt>
                <c:pt idx="5">
                  <c:v>Nalli</c:v>
                </c:pt>
                <c:pt idx="6">
                  <c:v>Others</c:v>
                </c:pt>
              </c:strCache>
            </c:strRef>
          </c:cat>
          <c:val>
            <c:numRef>
              <c:f>Sheet1!$B$2:$B$8</c:f>
              <c:numCache>
                <c:ptCount val="7"/>
                <c:pt idx="0">
                  <c:v>6.2</c:v>
                </c:pt>
                <c:pt idx="1">
                  <c:v>35.5</c:v>
                </c:pt>
                <c:pt idx="2">
                  <c:v>21.6</c:v>
                </c:pt>
                <c:pt idx="3">
                  <c:v>4.5</c:v>
                </c:pt>
                <c:pt idx="4">
                  <c:v>23.4</c:v>
                </c:pt>
                <c:pt idx="5">
                  <c:v>4.8</c:v>
                </c:pt>
                <c:pt idx="6">
                  <c:v>4.1</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4A94"/>
          </a:solidFill>
          <a:ln/>
        </p:spPr>
      </p:sp>
      <p:sp>
        <p:nvSpPr>
          <p:cNvPr id="3" name="Shape 1"/>
          <p:cNvSpPr/>
          <p:nvPr/>
        </p:nvSpPr>
        <p:spPr>
          <a:xfrm>
            <a:off x="-1645920" y="4754880"/>
            <a:ext cx="3657600" cy="3657600"/>
          </a:xfrm>
          <a:prstGeom prst="ellipse">
            <a:avLst/>
          </a:prstGeom>
          <a:solidFill>
            <a:srgbClr val="27336B"/>
          </a:solidFill>
          <a:ln/>
        </p:spPr>
      </p:sp>
      <p:sp>
        <p:nvSpPr>
          <p:cNvPr id="4" name="Text 2"/>
          <p:cNvSpPr txBox="1"/>
          <p:nvPr/>
        </p:nvSpPr>
        <p:spPr>
          <a:xfrm>
            <a:off x="822960" y="228600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VRINDA STORE</a:t>
            </a:r>
            <a:endParaRPr lang="en-US" sz="5400" dirty="0"/>
          </a:p>
        </p:txBody>
      </p:sp>
      <p:sp>
        <p:nvSpPr>
          <p:cNvPr id="5" name="Text 3"/>
          <p:cNvSpPr txBox="1"/>
          <p:nvPr/>
        </p:nvSpPr>
        <p:spPr>
          <a:xfrm>
            <a:off x="868680" y="3200400"/>
            <a:ext cx="10058400" cy="548640"/>
          </a:xfrm>
          <a:prstGeom prst="rect">
            <a:avLst/>
          </a:prstGeom>
          <a:noFill/>
          <a:ln/>
        </p:spPr>
        <p:txBody>
          <a:bodyPr wrap="square" lIns="0" tIns="0" rIns="0" bIns="0" rtlCol="0" anchor="ctr"/>
          <a:lstStyle/>
          <a:p>
            <a:pPr indent="0" marL="0">
              <a:buNone/>
            </a:pPr>
            <a:r>
              <a:rPr lang="en-US" sz="2200" dirty="0">
                <a:solidFill>
                  <a:srgbClr val="F9E795"/>
                </a:solidFill>
                <a:latin typeface="Calibri" pitchFamily="34" charset="0"/>
                <a:ea typeface="Calibri" pitchFamily="34" charset="-122"/>
                <a:cs typeface="Calibri" pitchFamily="34" charset="-120"/>
              </a:rPr>
              <a:t>Annual Sales Report — 2022</a:t>
            </a:r>
            <a:endParaRPr lang="en-US" sz="2200" dirty="0"/>
          </a:p>
        </p:txBody>
      </p:sp>
      <p:sp>
        <p:nvSpPr>
          <p:cNvPr id="6" name="Shape 4"/>
          <p:cNvSpPr/>
          <p:nvPr/>
        </p:nvSpPr>
        <p:spPr>
          <a:xfrm>
            <a:off x="868680" y="3931920"/>
            <a:ext cx="822960" cy="54864"/>
          </a:xfrm>
          <a:prstGeom prst="rect">
            <a:avLst/>
          </a:prstGeom>
          <a:solidFill>
            <a:srgbClr val="F96167"/>
          </a:solidFill>
          <a:ln/>
        </p:spPr>
      </p:sp>
      <p:sp>
        <p:nvSpPr>
          <p:cNvPr id="7" name="Text 5"/>
          <p:cNvSpPr txBox="1"/>
          <p:nvPr/>
        </p:nvSpPr>
        <p:spPr>
          <a:xfrm>
            <a:off x="868680" y="4160520"/>
            <a:ext cx="8686800" cy="457200"/>
          </a:xfrm>
          <a:prstGeom prst="rect">
            <a:avLst/>
          </a:prstGeom>
          <a:noFill/>
          <a:ln/>
        </p:spPr>
        <p:txBody>
          <a:bodyPr wrap="square" lIns="0" tIns="0" rIns="0" bIns="0" rtlCol="0" anchor="ctr"/>
          <a:lstStyle/>
          <a:p>
            <a:pPr indent="0" marL="0">
              <a:buNone/>
            </a:pPr>
            <a:r>
              <a:rPr lang="en-US" sz="1400" i="1" dirty="0">
                <a:solidFill>
                  <a:srgbClr val="C7CBE0"/>
                </a:solidFill>
                <a:latin typeface="Calibri" pitchFamily="34" charset="0"/>
                <a:ea typeface="Calibri" pitchFamily="34" charset="-122"/>
                <a:cs typeface="Calibri" pitchFamily="34" charset="-120"/>
              </a:rPr>
              <a:t>A data-driven look at orders, delivery, demographics and channels</a:t>
            </a:r>
            <a:endParaRPr lang="en-US" sz="1400" dirty="0"/>
          </a:p>
        </p:txBody>
      </p:sp>
      <p:sp>
        <p:nvSpPr>
          <p:cNvPr id="8" name="Text 6"/>
          <p:cNvSpPr txBox="1"/>
          <p:nvPr/>
        </p:nvSpPr>
        <p:spPr>
          <a:xfrm>
            <a:off x="868680" y="6126480"/>
            <a:ext cx="7315200" cy="274320"/>
          </a:xfrm>
          <a:prstGeom prst="rect">
            <a:avLst/>
          </a:prstGeom>
          <a:noFill/>
          <a:ln/>
        </p:spPr>
        <p:txBody>
          <a:bodyPr wrap="square" lIns="0" tIns="0" rIns="0" bIns="0" rtlCol="0" anchor="ctr"/>
          <a:lstStyle/>
          <a:p>
            <a:pPr indent="0" marL="0">
              <a:buNone/>
            </a:pPr>
            <a:r>
              <a:rPr lang="en-US" sz="1000" spc="200" kern="0" dirty="0">
                <a:solidFill>
                  <a:srgbClr val="8890BE"/>
                </a:solidFill>
                <a:latin typeface="Calibri" pitchFamily="34" charset="0"/>
                <a:ea typeface="Calibri" pitchFamily="34" charset="-122"/>
                <a:cs typeface="Calibri" pitchFamily="34" charset="-120"/>
              </a:rPr>
              <a:t>PREPARED FROM 2022 TRANSACTION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About This Analysis</a:t>
            </a:r>
            <a:endParaRPr lang="en-US" sz="3000" dirty="0"/>
          </a:p>
        </p:txBody>
      </p:sp>
      <p:sp>
        <p:nvSpPr>
          <p:cNvPr id="3" name="Text 1"/>
          <p:cNvSpPr txBox="1"/>
          <p:nvPr/>
        </p:nvSpPr>
        <p:spPr>
          <a:xfrm>
            <a:off x="548640" y="1371600"/>
            <a:ext cx="6035040" cy="1554480"/>
          </a:xfrm>
          <a:prstGeom prst="rect">
            <a:avLst/>
          </a:prstGeom>
          <a:noFill/>
          <a:ln/>
        </p:spPr>
        <p:txBody>
          <a:bodyPr wrap="square" lIns="0" tIns="0" rIns="0" bIns="0" rtlCol="0" anchor="t"/>
          <a:lstStyle/>
          <a:p>
            <a:pPr indent="0" marL="0">
              <a:lnSpc>
                <a:spcPct val="125000"/>
              </a:lnSpc>
              <a:buNone/>
            </a:pPr>
            <a:r>
              <a:rPr lang="en-US" sz="1450" dirty="0">
                <a:solidFill>
                  <a:srgbClr val="5B5F6B"/>
                </a:solidFill>
                <a:latin typeface="Calibri" pitchFamily="34" charset="0"/>
                <a:ea typeface="Calibri" pitchFamily="34" charset="-122"/>
                <a:cs typeface="Calibri" pitchFamily="34" charset="-120"/>
              </a:rPr>
              <a:t>Vrinda Store's 2022 order data was cleaned and analyzed to understand where revenue comes from, who the customers are, and how orders move from placement to delivery. The goal is to turn a year of raw transactions into decisions the business can act on.</a:t>
            </a:r>
            <a:endParaRPr lang="en-US" sz="1450" dirty="0"/>
          </a:p>
        </p:txBody>
      </p:sp>
      <p:sp>
        <p:nvSpPr>
          <p:cNvPr id="4" name="Shape 2"/>
          <p:cNvSpPr/>
          <p:nvPr/>
        </p:nvSpPr>
        <p:spPr>
          <a:xfrm>
            <a:off x="548640" y="3246120"/>
            <a:ext cx="329184" cy="329184"/>
          </a:xfrm>
          <a:prstGeom prst="ellipse">
            <a:avLst/>
          </a:prstGeom>
          <a:solidFill>
            <a:srgbClr val="F96167"/>
          </a:solidFill>
          <a:ln/>
        </p:spPr>
      </p:sp>
      <p:sp>
        <p:nvSpPr>
          <p:cNvPr id="5" name="Text 3"/>
          <p:cNvSpPr txBox="1"/>
          <p:nvPr/>
        </p:nvSpPr>
        <p:spPr>
          <a:xfrm>
            <a:off x="548640" y="3246120"/>
            <a:ext cx="329184"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mbria" pitchFamily="34" charset="0"/>
                <a:ea typeface="Cambria" pitchFamily="34" charset="-122"/>
                <a:cs typeface="Cambria" pitchFamily="34" charset="-120"/>
              </a:rPr>
              <a:t>1</a:t>
            </a:r>
            <a:endParaRPr lang="en-US" sz="800" dirty="0"/>
          </a:p>
        </p:txBody>
      </p:sp>
      <p:sp>
        <p:nvSpPr>
          <p:cNvPr id="6" name="Text 4"/>
          <p:cNvSpPr txBox="1"/>
          <p:nvPr/>
        </p:nvSpPr>
        <p:spPr>
          <a:xfrm>
            <a:off x="1097280" y="3218688"/>
            <a:ext cx="5486400" cy="384048"/>
          </a:xfrm>
          <a:prstGeom prst="rect">
            <a:avLst/>
          </a:prstGeom>
          <a:noFill/>
          <a:ln/>
        </p:spPr>
        <p:txBody>
          <a:bodyPr wrap="square" lIns="0" tIns="0" rIns="0" bIns="0" rtlCol="0" anchor="ctr"/>
          <a:lstStyle/>
          <a:p>
            <a:pPr indent="0" marL="0">
              <a:buNone/>
            </a:pPr>
            <a:r>
              <a:rPr lang="en-US" sz="1350" dirty="0">
                <a:solidFill>
                  <a:srgbClr val="2F3C7E"/>
                </a:solidFill>
                <a:latin typeface="Calibri" pitchFamily="34" charset="0"/>
                <a:ea typeface="Calibri" pitchFamily="34" charset="-122"/>
                <a:cs typeface="Calibri" pitchFamily="34" charset="-120"/>
              </a:rPr>
              <a:t>Monthly order volume &amp; revenue trends</a:t>
            </a:r>
            <a:endParaRPr lang="en-US" sz="1350" dirty="0"/>
          </a:p>
        </p:txBody>
      </p:sp>
      <p:sp>
        <p:nvSpPr>
          <p:cNvPr id="7" name="Shape 5"/>
          <p:cNvSpPr/>
          <p:nvPr/>
        </p:nvSpPr>
        <p:spPr>
          <a:xfrm>
            <a:off x="548640" y="3813048"/>
            <a:ext cx="329184" cy="329184"/>
          </a:xfrm>
          <a:prstGeom prst="ellipse">
            <a:avLst/>
          </a:prstGeom>
          <a:solidFill>
            <a:srgbClr val="F96167"/>
          </a:solidFill>
          <a:ln/>
        </p:spPr>
      </p:sp>
      <p:sp>
        <p:nvSpPr>
          <p:cNvPr id="8" name="Text 6"/>
          <p:cNvSpPr txBox="1"/>
          <p:nvPr/>
        </p:nvSpPr>
        <p:spPr>
          <a:xfrm>
            <a:off x="548640" y="3813048"/>
            <a:ext cx="329184"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mbria" pitchFamily="34" charset="0"/>
                <a:ea typeface="Cambria" pitchFamily="34" charset="-122"/>
                <a:cs typeface="Cambria" pitchFamily="34" charset="-120"/>
              </a:rPr>
              <a:t>2</a:t>
            </a:r>
            <a:endParaRPr lang="en-US" sz="800" dirty="0"/>
          </a:p>
        </p:txBody>
      </p:sp>
      <p:sp>
        <p:nvSpPr>
          <p:cNvPr id="9" name="Text 7"/>
          <p:cNvSpPr txBox="1"/>
          <p:nvPr/>
        </p:nvSpPr>
        <p:spPr>
          <a:xfrm>
            <a:off x="1097280" y="3785616"/>
            <a:ext cx="5486400" cy="384048"/>
          </a:xfrm>
          <a:prstGeom prst="rect">
            <a:avLst/>
          </a:prstGeom>
          <a:noFill/>
          <a:ln/>
        </p:spPr>
        <p:txBody>
          <a:bodyPr wrap="square" lIns="0" tIns="0" rIns="0" bIns="0" rtlCol="0" anchor="ctr"/>
          <a:lstStyle/>
          <a:p>
            <a:pPr indent="0" marL="0">
              <a:buNone/>
            </a:pPr>
            <a:r>
              <a:rPr lang="en-US" sz="1350" dirty="0">
                <a:solidFill>
                  <a:srgbClr val="2F3C7E"/>
                </a:solidFill>
                <a:latin typeface="Calibri" pitchFamily="34" charset="0"/>
                <a:ea typeface="Calibri" pitchFamily="34" charset="-122"/>
                <a:cs typeface="Calibri" pitchFamily="34" charset="-120"/>
              </a:rPr>
              <a:t>Delivery outcomes across the order pipeline</a:t>
            </a:r>
            <a:endParaRPr lang="en-US" sz="1350" dirty="0"/>
          </a:p>
        </p:txBody>
      </p:sp>
      <p:sp>
        <p:nvSpPr>
          <p:cNvPr id="10" name="Shape 8"/>
          <p:cNvSpPr/>
          <p:nvPr/>
        </p:nvSpPr>
        <p:spPr>
          <a:xfrm>
            <a:off x="548640" y="4379976"/>
            <a:ext cx="329184" cy="329184"/>
          </a:xfrm>
          <a:prstGeom prst="ellipse">
            <a:avLst/>
          </a:prstGeom>
          <a:solidFill>
            <a:srgbClr val="F96167"/>
          </a:solidFill>
          <a:ln/>
        </p:spPr>
      </p:sp>
      <p:sp>
        <p:nvSpPr>
          <p:cNvPr id="11" name="Text 9"/>
          <p:cNvSpPr txBox="1"/>
          <p:nvPr/>
        </p:nvSpPr>
        <p:spPr>
          <a:xfrm>
            <a:off x="548640" y="4379976"/>
            <a:ext cx="329184"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mbria" pitchFamily="34" charset="0"/>
                <a:ea typeface="Cambria" pitchFamily="34" charset="-122"/>
                <a:cs typeface="Cambria" pitchFamily="34" charset="-120"/>
              </a:rPr>
              <a:t>3</a:t>
            </a:r>
            <a:endParaRPr lang="en-US" sz="800" dirty="0"/>
          </a:p>
        </p:txBody>
      </p:sp>
      <p:sp>
        <p:nvSpPr>
          <p:cNvPr id="12" name="Text 10"/>
          <p:cNvSpPr txBox="1"/>
          <p:nvPr/>
        </p:nvSpPr>
        <p:spPr>
          <a:xfrm>
            <a:off x="1097280" y="4352544"/>
            <a:ext cx="5486400" cy="384048"/>
          </a:xfrm>
          <a:prstGeom prst="rect">
            <a:avLst/>
          </a:prstGeom>
          <a:noFill/>
          <a:ln/>
        </p:spPr>
        <p:txBody>
          <a:bodyPr wrap="square" lIns="0" tIns="0" rIns="0" bIns="0" rtlCol="0" anchor="ctr"/>
          <a:lstStyle/>
          <a:p>
            <a:pPr indent="0" marL="0">
              <a:buNone/>
            </a:pPr>
            <a:r>
              <a:rPr lang="en-US" sz="1350" dirty="0">
                <a:solidFill>
                  <a:srgbClr val="2F3C7E"/>
                </a:solidFill>
                <a:latin typeface="Calibri" pitchFamily="34" charset="0"/>
                <a:ea typeface="Calibri" pitchFamily="34" charset="-122"/>
                <a:cs typeface="Calibri" pitchFamily="34" charset="-120"/>
              </a:rPr>
              <a:t>Revenue by state, gender and age group</a:t>
            </a:r>
            <a:endParaRPr lang="en-US" sz="1350" dirty="0"/>
          </a:p>
        </p:txBody>
      </p:sp>
      <p:sp>
        <p:nvSpPr>
          <p:cNvPr id="13" name="Shape 11"/>
          <p:cNvSpPr/>
          <p:nvPr/>
        </p:nvSpPr>
        <p:spPr>
          <a:xfrm>
            <a:off x="548640" y="4946904"/>
            <a:ext cx="329184" cy="329184"/>
          </a:xfrm>
          <a:prstGeom prst="ellipse">
            <a:avLst/>
          </a:prstGeom>
          <a:solidFill>
            <a:srgbClr val="F96167"/>
          </a:solidFill>
          <a:ln/>
        </p:spPr>
      </p:sp>
      <p:sp>
        <p:nvSpPr>
          <p:cNvPr id="14" name="Text 12"/>
          <p:cNvSpPr txBox="1"/>
          <p:nvPr/>
        </p:nvSpPr>
        <p:spPr>
          <a:xfrm>
            <a:off x="548640" y="4946904"/>
            <a:ext cx="329184"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mbria" pitchFamily="34" charset="0"/>
                <a:ea typeface="Cambria" pitchFamily="34" charset="-122"/>
                <a:cs typeface="Cambria" pitchFamily="34" charset="-120"/>
              </a:rPr>
              <a:t>4</a:t>
            </a:r>
            <a:endParaRPr lang="en-US" sz="800" dirty="0"/>
          </a:p>
        </p:txBody>
      </p:sp>
      <p:sp>
        <p:nvSpPr>
          <p:cNvPr id="15" name="Text 13"/>
          <p:cNvSpPr txBox="1"/>
          <p:nvPr/>
        </p:nvSpPr>
        <p:spPr>
          <a:xfrm>
            <a:off x="1097280" y="4919472"/>
            <a:ext cx="5486400" cy="384048"/>
          </a:xfrm>
          <a:prstGeom prst="rect">
            <a:avLst/>
          </a:prstGeom>
          <a:noFill/>
          <a:ln/>
        </p:spPr>
        <p:txBody>
          <a:bodyPr wrap="square" lIns="0" tIns="0" rIns="0" bIns="0" rtlCol="0" anchor="ctr"/>
          <a:lstStyle/>
          <a:p>
            <a:pPr indent="0" marL="0">
              <a:buNone/>
            </a:pPr>
            <a:r>
              <a:rPr lang="en-US" sz="1350" dirty="0">
                <a:solidFill>
                  <a:srgbClr val="2F3C7E"/>
                </a:solidFill>
                <a:latin typeface="Calibri" pitchFamily="34" charset="0"/>
                <a:ea typeface="Calibri" pitchFamily="34" charset="-122"/>
                <a:cs typeface="Calibri" pitchFamily="34" charset="-120"/>
              </a:rPr>
              <a:t>Performance across sales channels</a:t>
            </a:r>
            <a:endParaRPr lang="en-US" sz="1350" dirty="0"/>
          </a:p>
        </p:txBody>
      </p:sp>
      <p:sp>
        <p:nvSpPr>
          <p:cNvPr id="16" name="Shape 14"/>
          <p:cNvSpPr/>
          <p:nvPr/>
        </p:nvSpPr>
        <p:spPr>
          <a:xfrm>
            <a:off x="7040880" y="1371600"/>
            <a:ext cx="4526280" cy="1417320"/>
          </a:xfrm>
          <a:prstGeom prst="roundRect">
            <a:avLst>
              <a:gd name="adj" fmla="val 5161"/>
            </a:avLst>
          </a:prstGeom>
          <a:solidFill>
            <a:srgbClr val="F5F6FA"/>
          </a:solidFill>
          <a:ln/>
        </p:spPr>
      </p:sp>
      <p:sp>
        <p:nvSpPr>
          <p:cNvPr id="17" name="Text 15"/>
          <p:cNvSpPr txBox="1"/>
          <p:nvPr/>
        </p:nvSpPr>
        <p:spPr>
          <a:xfrm>
            <a:off x="7269480" y="1481328"/>
            <a:ext cx="4069080" cy="779526"/>
          </a:xfrm>
          <a:prstGeom prst="rect">
            <a:avLst/>
          </a:prstGeom>
          <a:noFill/>
          <a:ln/>
        </p:spPr>
        <p:txBody>
          <a:bodyPr wrap="square" lIns="0" tIns="0" rIns="0" bIns="0" rtlCol="0" anchor="b"/>
          <a:lstStyle/>
          <a:p>
            <a:pPr indent="0" marL="0">
              <a:buNone/>
            </a:pPr>
            <a:r>
              <a:rPr lang="en-US" sz="3000" b="1" dirty="0">
                <a:solidFill>
                  <a:srgbClr val="2F3C7E"/>
                </a:solidFill>
                <a:latin typeface="Cambria" pitchFamily="34" charset="0"/>
                <a:ea typeface="Cambria" pitchFamily="34" charset="-122"/>
                <a:cs typeface="Cambria" pitchFamily="34" charset="-120"/>
              </a:rPr>
              <a:t>31,047</a:t>
            </a:r>
            <a:endParaRPr lang="en-US" sz="3000" dirty="0"/>
          </a:p>
        </p:txBody>
      </p:sp>
      <p:sp>
        <p:nvSpPr>
          <p:cNvPr id="18" name="Text 16"/>
          <p:cNvSpPr txBox="1"/>
          <p:nvPr/>
        </p:nvSpPr>
        <p:spPr>
          <a:xfrm>
            <a:off x="7269480" y="2331720"/>
            <a:ext cx="4069080" cy="365760"/>
          </a:xfrm>
          <a:prstGeom prst="rect">
            <a:avLst/>
          </a:prstGeom>
          <a:noFill/>
          <a:ln/>
        </p:spPr>
        <p:txBody>
          <a:bodyPr wrap="square" lIns="0" tIns="0" rIns="0" bIns="0" rtlCol="0" anchor="ctr"/>
          <a:lstStyle/>
          <a:p>
            <a:pPr indent="0" marL="0">
              <a:buNone/>
            </a:pPr>
            <a:r>
              <a:rPr lang="en-US" sz="1250" dirty="0">
                <a:solidFill>
                  <a:srgbClr val="5B5F6B"/>
                </a:solidFill>
                <a:latin typeface="Calibri" pitchFamily="34" charset="0"/>
                <a:ea typeface="Calibri" pitchFamily="34" charset="-122"/>
                <a:cs typeface="Calibri" pitchFamily="34" charset="-120"/>
              </a:rPr>
              <a:t>Total Orders (2022)</a:t>
            </a:r>
            <a:endParaRPr lang="en-US" sz="1250" dirty="0"/>
          </a:p>
        </p:txBody>
      </p:sp>
      <p:sp>
        <p:nvSpPr>
          <p:cNvPr id="19" name="Shape 17"/>
          <p:cNvSpPr/>
          <p:nvPr/>
        </p:nvSpPr>
        <p:spPr>
          <a:xfrm>
            <a:off x="7040880" y="2926080"/>
            <a:ext cx="4526280" cy="1417320"/>
          </a:xfrm>
          <a:prstGeom prst="roundRect">
            <a:avLst>
              <a:gd name="adj" fmla="val 5161"/>
            </a:avLst>
          </a:prstGeom>
          <a:solidFill>
            <a:srgbClr val="F5F6FA"/>
          </a:solidFill>
          <a:ln/>
        </p:spPr>
      </p:sp>
      <p:sp>
        <p:nvSpPr>
          <p:cNvPr id="20" name="Text 18"/>
          <p:cNvSpPr txBox="1"/>
          <p:nvPr/>
        </p:nvSpPr>
        <p:spPr>
          <a:xfrm>
            <a:off x="7269480" y="3035808"/>
            <a:ext cx="4069080" cy="779526"/>
          </a:xfrm>
          <a:prstGeom prst="rect">
            <a:avLst/>
          </a:prstGeom>
          <a:noFill/>
          <a:ln/>
        </p:spPr>
        <p:txBody>
          <a:bodyPr wrap="square" lIns="0" tIns="0" rIns="0" bIns="0" rtlCol="0" anchor="b"/>
          <a:lstStyle/>
          <a:p>
            <a:pPr indent="0" marL="0">
              <a:buNone/>
            </a:pPr>
            <a:r>
              <a:rPr lang="en-US" sz="3000" b="1" dirty="0">
                <a:solidFill>
                  <a:srgbClr val="2F3C7E"/>
                </a:solidFill>
                <a:latin typeface="Cambria" pitchFamily="34" charset="0"/>
                <a:ea typeface="Cambria" pitchFamily="34" charset="-122"/>
                <a:cs typeface="Cambria" pitchFamily="34" charset="-120"/>
              </a:rPr>
              <a:t>₹2.12 Cr</a:t>
            </a:r>
            <a:endParaRPr lang="en-US" sz="3000" dirty="0"/>
          </a:p>
        </p:txBody>
      </p:sp>
      <p:sp>
        <p:nvSpPr>
          <p:cNvPr id="21" name="Text 19"/>
          <p:cNvSpPr txBox="1"/>
          <p:nvPr/>
        </p:nvSpPr>
        <p:spPr>
          <a:xfrm>
            <a:off x="7269480" y="3886200"/>
            <a:ext cx="4069080" cy="365760"/>
          </a:xfrm>
          <a:prstGeom prst="rect">
            <a:avLst/>
          </a:prstGeom>
          <a:noFill/>
          <a:ln/>
        </p:spPr>
        <p:txBody>
          <a:bodyPr wrap="square" lIns="0" tIns="0" rIns="0" bIns="0" rtlCol="0" anchor="ctr"/>
          <a:lstStyle/>
          <a:p>
            <a:pPr indent="0" marL="0">
              <a:buNone/>
            </a:pPr>
            <a:r>
              <a:rPr lang="en-US" sz="1250" dirty="0">
                <a:solidFill>
                  <a:srgbClr val="5B5F6B"/>
                </a:solidFill>
                <a:latin typeface="Calibri" pitchFamily="34" charset="0"/>
                <a:ea typeface="Calibri" pitchFamily="34" charset="-122"/>
                <a:cs typeface="Calibri" pitchFamily="34" charset="-120"/>
              </a:rPr>
              <a:t>Total Revenue</a:t>
            </a:r>
            <a:endParaRPr lang="en-US" sz="1250" dirty="0"/>
          </a:p>
        </p:txBody>
      </p:sp>
      <p:sp>
        <p:nvSpPr>
          <p:cNvPr id="22" name="Shape 20"/>
          <p:cNvSpPr/>
          <p:nvPr/>
        </p:nvSpPr>
        <p:spPr>
          <a:xfrm>
            <a:off x="7040880" y="4480560"/>
            <a:ext cx="4526280" cy="1417320"/>
          </a:xfrm>
          <a:prstGeom prst="roundRect">
            <a:avLst>
              <a:gd name="adj" fmla="val 5161"/>
            </a:avLst>
          </a:prstGeom>
          <a:solidFill>
            <a:srgbClr val="F5F6FA"/>
          </a:solidFill>
          <a:ln/>
        </p:spPr>
      </p:sp>
      <p:sp>
        <p:nvSpPr>
          <p:cNvPr id="23" name="Text 21"/>
          <p:cNvSpPr txBox="1"/>
          <p:nvPr/>
        </p:nvSpPr>
        <p:spPr>
          <a:xfrm>
            <a:off x="7269480" y="4590288"/>
            <a:ext cx="4069080" cy="779526"/>
          </a:xfrm>
          <a:prstGeom prst="rect">
            <a:avLst/>
          </a:prstGeom>
          <a:noFill/>
          <a:ln/>
        </p:spPr>
        <p:txBody>
          <a:bodyPr wrap="square" lIns="0" tIns="0" rIns="0" bIns="0" rtlCol="0" anchor="b"/>
          <a:lstStyle/>
          <a:p>
            <a:pPr indent="0" marL="0">
              <a:buNone/>
            </a:pPr>
            <a:r>
              <a:rPr lang="en-US" sz="3000" b="1" dirty="0">
                <a:solidFill>
                  <a:srgbClr val="2F3C7E"/>
                </a:solidFill>
                <a:latin typeface="Cambria" pitchFamily="34" charset="0"/>
                <a:ea typeface="Cambria" pitchFamily="34" charset="-122"/>
                <a:cs typeface="Cambria" pitchFamily="34" charset="-120"/>
              </a:rPr>
              <a:t>₹682</a:t>
            </a:r>
            <a:endParaRPr lang="en-US" sz="3000" dirty="0"/>
          </a:p>
        </p:txBody>
      </p:sp>
      <p:sp>
        <p:nvSpPr>
          <p:cNvPr id="24" name="Text 22"/>
          <p:cNvSpPr txBox="1"/>
          <p:nvPr/>
        </p:nvSpPr>
        <p:spPr>
          <a:xfrm>
            <a:off x="7269480" y="5440680"/>
            <a:ext cx="4069080" cy="365760"/>
          </a:xfrm>
          <a:prstGeom prst="rect">
            <a:avLst/>
          </a:prstGeom>
          <a:noFill/>
          <a:ln/>
        </p:spPr>
        <p:txBody>
          <a:bodyPr wrap="square" lIns="0" tIns="0" rIns="0" bIns="0" rtlCol="0" anchor="ctr"/>
          <a:lstStyle/>
          <a:p>
            <a:pPr indent="0" marL="0">
              <a:buNone/>
            </a:pPr>
            <a:r>
              <a:rPr lang="en-US" sz="1250" dirty="0">
                <a:solidFill>
                  <a:srgbClr val="5B5F6B"/>
                </a:solidFill>
                <a:latin typeface="Calibri" pitchFamily="34" charset="0"/>
                <a:ea typeface="Calibri" pitchFamily="34" charset="-122"/>
                <a:cs typeface="Calibri" pitchFamily="34" charset="-120"/>
              </a:rPr>
              <a:t>Average Order Value</a:t>
            </a:r>
            <a:endParaRPr lang="en-US" sz="1250" dirty="0"/>
          </a:p>
        </p:txBody>
      </p:sp>
      <p:sp>
        <p:nvSpPr>
          <p:cNvPr id="25" name="Text 2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26" name="Text 24"/>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Sales and Orders by Month</a:t>
            </a:r>
            <a:endParaRPr lang="en-US" sz="3000" dirty="0"/>
          </a:p>
        </p:txBody>
      </p:sp>
      <p:sp>
        <p:nvSpPr>
          <p:cNvPr id="3" name="Text 1"/>
          <p:cNvSpPr txBox="1"/>
          <p:nvPr/>
        </p:nvSpPr>
        <p:spPr>
          <a:xfrm>
            <a:off x="548640" y="960120"/>
            <a:ext cx="10515600" cy="365760"/>
          </a:xfrm>
          <a:prstGeom prst="rect">
            <a:avLst/>
          </a:prstGeom>
          <a:noFill/>
          <a:ln/>
        </p:spPr>
        <p:txBody>
          <a:bodyPr wrap="square" lIns="0" tIns="0" rIns="0" bIns="0" rtlCol="0" anchor="ctr"/>
          <a:lstStyle/>
          <a:p>
            <a:pPr indent="0" marL="0">
              <a:buNone/>
            </a:pPr>
            <a:r>
              <a:rPr lang="en-US" sz="1300" i="1" dirty="0">
                <a:solidFill>
                  <a:srgbClr val="5B5F6B"/>
                </a:solidFill>
                <a:latin typeface="Calibri" pitchFamily="34" charset="0"/>
                <a:ea typeface="Calibri" pitchFamily="34" charset="-122"/>
                <a:cs typeface="Calibri" pitchFamily="34" charset="-120"/>
              </a:rPr>
              <a:t>Revenue (₹M, bars) and order count (line) both peak in March</a:t>
            </a:r>
            <a:endParaRPr lang="en-US" sz="1300" dirty="0"/>
          </a:p>
        </p:txBody>
      </p:sp>
      <p:graphicFrame>
        <p:nvGraphicFramePr>
          <p:cNvPr id="4" name="Chart 0" descr=""/>
          <p:cNvGraphicFramePr/>
          <p:nvPr/>
        </p:nvGraphicFramePr>
        <p:xfrm>
          <a:off x="548640" y="1417320"/>
          <a:ext cx="11064240" cy="4892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6" name="Text 3"/>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Order Status</a:t>
            </a:r>
            <a:endParaRPr lang="en-US" sz="3000" dirty="0"/>
          </a:p>
        </p:txBody>
      </p:sp>
      <p:sp>
        <p:nvSpPr>
          <p:cNvPr id="3" name="Text 1"/>
          <p:cNvSpPr txBox="1"/>
          <p:nvPr/>
        </p:nvSpPr>
        <p:spPr>
          <a:xfrm>
            <a:off x="548640" y="960120"/>
            <a:ext cx="10515600" cy="365760"/>
          </a:xfrm>
          <a:prstGeom prst="rect">
            <a:avLst/>
          </a:prstGeom>
          <a:noFill/>
          <a:ln/>
        </p:spPr>
        <p:txBody>
          <a:bodyPr wrap="square" lIns="0" tIns="0" rIns="0" bIns="0" rtlCol="0" anchor="ctr"/>
          <a:lstStyle/>
          <a:p>
            <a:pPr indent="0" marL="0">
              <a:buNone/>
            </a:pPr>
            <a:r>
              <a:rPr lang="en-US" sz="1300" i="1" dirty="0">
                <a:solidFill>
                  <a:srgbClr val="5B5F6B"/>
                </a:solidFill>
                <a:latin typeface="Calibri" pitchFamily="34" charset="0"/>
                <a:ea typeface="Calibri" pitchFamily="34" charset="-122"/>
                <a:cs typeface="Calibri" pitchFamily="34" charset="-120"/>
              </a:rPr>
              <a:t>92% of orders are delivered successfully — a strong fulfilment rate</a:t>
            </a:r>
            <a:endParaRPr lang="en-US" sz="1300" dirty="0"/>
          </a:p>
        </p:txBody>
      </p:sp>
      <p:graphicFrame>
        <p:nvGraphicFramePr>
          <p:cNvPr id="4" name="Chart 0" descr=""/>
          <p:cNvGraphicFramePr/>
          <p:nvPr/>
        </p:nvGraphicFramePr>
        <p:xfrm>
          <a:off x="548640" y="1554480"/>
          <a:ext cx="530352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188720" y="3429000"/>
            <a:ext cx="4023360" cy="822960"/>
          </a:xfrm>
          <a:prstGeom prst="rect">
            <a:avLst/>
          </a:prstGeom>
          <a:noFill/>
          <a:ln/>
        </p:spPr>
        <p:txBody>
          <a:bodyPr wrap="square" lIns="0" tIns="0" rIns="0" bIns="0" rtlCol="0" anchor="ctr"/>
          <a:lstStyle/>
          <a:p>
            <a:pPr algn="ctr" indent="0" marL="0">
              <a:buNone/>
            </a:pPr>
            <a:r>
              <a:rPr lang="en-US" sz="3400" b="1" dirty="0">
                <a:solidFill>
                  <a:srgbClr val="F96167"/>
                </a:solidFill>
                <a:latin typeface="Cambria" pitchFamily="34" charset="0"/>
                <a:ea typeface="Cambria" pitchFamily="34" charset="-122"/>
                <a:cs typeface="Cambria" pitchFamily="34" charset="-120"/>
              </a:rPr>
              <a:t>92.3%</a:t>
            </a:r>
            <a:endParaRPr lang="en-US" sz="3400" dirty="0"/>
          </a:p>
        </p:txBody>
      </p:sp>
      <p:sp>
        <p:nvSpPr>
          <p:cNvPr id="6" name="Text 3"/>
          <p:cNvSpPr txBox="1"/>
          <p:nvPr/>
        </p:nvSpPr>
        <p:spPr>
          <a:xfrm>
            <a:off x="1188720" y="4114800"/>
            <a:ext cx="4023360" cy="365760"/>
          </a:xfrm>
          <a:prstGeom prst="rect">
            <a:avLst/>
          </a:prstGeom>
          <a:noFill/>
          <a:ln/>
        </p:spPr>
        <p:txBody>
          <a:bodyPr wrap="square" lIns="0" tIns="0" rIns="0" bIns="0" rtlCol="0" anchor="ctr"/>
          <a:lstStyle/>
          <a:p>
            <a:pPr algn="ctr" indent="0" marL="0">
              <a:buNone/>
            </a:pPr>
            <a:r>
              <a:rPr lang="en-US" sz="1300" dirty="0">
                <a:solidFill>
                  <a:srgbClr val="5B5F6B"/>
                </a:solidFill>
                <a:latin typeface="Calibri" pitchFamily="34" charset="0"/>
                <a:ea typeface="Calibri" pitchFamily="34" charset="-122"/>
                <a:cs typeface="Calibri" pitchFamily="34" charset="-120"/>
              </a:rPr>
              <a:t>Delivered</a:t>
            </a:r>
            <a:endParaRPr lang="en-US" sz="1300" dirty="0"/>
          </a:p>
        </p:txBody>
      </p:sp>
      <p:sp>
        <p:nvSpPr>
          <p:cNvPr id="7" name="Shape 4"/>
          <p:cNvSpPr/>
          <p:nvPr/>
        </p:nvSpPr>
        <p:spPr>
          <a:xfrm>
            <a:off x="6309360" y="1737360"/>
            <a:ext cx="5212080" cy="868680"/>
          </a:xfrm>
          <a:prstGeom prst="roundRect">
            <a:avLst>
              <a:gd name="adj" fmla="val 6316"/>
            </a:avLst>
          </a:prstGeom>
          <a:solidFill>
            <a:srgbClr val="F5F6FA"/>
          </a:solidFill>
          <a:ln/>
        </p:spPr>
      </p:sp>
      <p:sp>
        <p:nvSpPr>
          <p:cNvPr id="8" name="Shape 5"/>
          <p:cNvSpPr/>
          <p:nvPr/>
        </p:nvSpPr>
        <p:spPr>
          <a:xfrm>
            <a:off x="6537960" y="1993392"/>
            <a:ext cx="365760" cy="365760"/>
          </a:xfrm>
          <a:prstGeom prst="ellipse">
            <a:avLst/>
          </a:prstGeom>
          <a:solidFill>
            <a:srgbClr val="F9E795"/>
          </a:solidFill>
          <a:ln/>
        </p:spPr>
      </p:sp>
      <p:sp>
        <p:nvSpPr>
          <p:cNvPr id="9" name="Text 6"/>
          <p:cNvSpPr txBox="1"/>
          <p:nvPr/>
        </p:nvSpPr>
        <p:spPr>
          <a:xfrm>
            <a:off x="7040880" y="1828800"/>
            <a:ext cx="2926080" cy="365760"/>
          </a:xfrm>
          <a:prstGeom prst="rect">
            <a:avLst/>
          </a:prstGeom>
          <a:noFill/>
          <a:ln/>
        </p:spPr>
        <p:txBody>
          <a:bodyPr wrap="square" lIns="0" tIns="0" rIns="0" bIns="0" rtlCol="0" anchor="b"/>
          <a:lstStyle/>
          <a:p>
            <a:pPr indent="0" marL="0">
              <a:buNone/>
            </a:pPr>
            <a:r>
              <a:rPr lang="en-US" sz="1500" b="1" dirty="0">
                <a:solidFill>
                  <a:srgbClr val="2F3C7E"/>
                </a:solidFill>
                <a:latin typeface="Calibri" pitchFamily="34" charset="0"/>
                <a:ea typeface="Calibri" pitchFamily="34" charset="-122"/>
                <a:cs typeface="Calibri" pitchFamily="34" charset="-120"/>
              </a:rPr>
              <a:t>Cancelled</a:t>
            </a:r>
            <a:endParaRPr lang="en-US" sz="1500" dirty="0"/>
          </a:p>
        </p:txBody>
      </p:sp>
      <p:sp>
        <p:nvSpPr>
          <p:cNvPr id="10" name="Text 7"/>
          <p:cNvSpPr txBox="1"/>
          <p:nvPr/>
        </p:nvSpPr>
        <p:spPr>
          <a:xfrm>
            <a:off x="9692640" y="1737360"/>
            <a:ext cx="1691640" cy="868680"/>
          </a:xfrm>
          <a:prstGeom prst="rect">
            <a:avLst/>
          </a:prstGeom>
          <a:noFill/>
          <a:ln/>
        </p:spPr>
        <p:txBody>
          <a:bodyPr wrap="square" lIns="0" tIns="0" rIns="0" bIns="0" rtlCol="0" anchor="ctr"/>
          <a:lstStyle/>
          <a:p>
            <a:pPr algn="r" indent="0" marL="0">
              <a:buNone/>
            </a:pPr>
            <a:r>
              <a:rPr lang="en-US" sz="2200" b="1" dirty="0">
                <a:solidFill>
                  <a:srgbClr val="9C8A1E"/>
                </a:solidFill>
                <a:latin typeface="Cambria" pitchFamily="34" charset="0"/>
                <a:ea typeface="Cambria" pitchFamily="34" charset="-122"/>
                <a:cs typeface="Cambria" pitchFamily="34" charset="-120"/>
              </a:rPr>
              <a:t>2.7%</a:t>
            </a:r>
            <a:endParaRPr lang="en-US" sz="2200" dirty="0"/>
          </a:p>
        </p:txBody>
      </p:sp>
      <p:sp>
        <p:nvSpPr>
          <p:cNvPr id="11" name="Shape 8"/>
          <p:cNvSpPr/>
          <p:nvPr/>
        </p:nvSpPr>
        <p:spPr>
          <a:xfrm>
            <a:off x="6309360" y="2788920"/>
            <a:ext cx="5212080" cy="868680"/>
          </a:xfrm>
          <a:prstGeom prst="roundRect">
            <a:avLst>
              <a:gd name="adj" fmla="val 6316"/>
            </a:avLst>
          </a:prstGeom>
          <a:solidFill>
            <a:srgbClr val="F5F6FA"/>
          </a:solidFill>
          <a:ln/>
        </p:spPr>
      </p:sp>
      <p:sp>
        <p:nvSpPr>
          <p:cNvPr id="12" name="Shape 9"/>
          <p:cNvSpPr/>
          <p:nvPr/>
        </p:nvSpPr>
        <p:spPr>
          <a:xfrm>
            <a:off x="6537960" y="3044952"/>
            <a:ext cx="365760" cy="365760"/>
          </a:xfrm>
          <a:prstGeom prst="ellipse">
            <a:avLst/>
          </a:prstGeom>
          <a:solidFill>
            <a:srgbClr val="F96167"/>
          </a:solidFill>
          <a:ln/>
        </p:spPr>
      </p:sp>
      <p:sp>
        <p:nvSpPr>
          <p:cNvPr id="13" name="Text 10"/>
          <p:cNvSpPr txBox="1"/>
          <p:nvPr/>
        </p:nvSpPr>
        <p:spPr>
          <a:xfrm>
            <a:off x="7040880" y="2880360"/>
            <a:ext cx="2926080" cy="365760"/>
          </a:xfrm>
          <a:prstGeom prst="rect">
            <a:avLst/>
          </a:prstGeom>
          <a:noFill/>
          <a:ln/>
        </p:spPr>
        <p:txBody>
          <a:bodyPr wrap="square" lIns="0" tIns="0" rIns="0" bIns="0" rtlCol="0" anchor="b"/>
          <a:lstStyle/>
          <a:p>
            <a:pPr indent="0" marL="0">
              <a:buNone/>
            </a:pPr>
            <a:r>
              <a:rPr lang="en-US" sz="1500" b="1" dirty="0">
                <a:solidFill>
                  <a:srgbClr val="2F3C7E"/>
                </a:solidFill>
                <a:latin typeface="Calibri" pitchFamily="34" charset="0"/>
                <a:ea typeface="Calibri" pitchFamily="34" charset="-122"/>
                <a:cs typeface="Calibri" pitchFamily="34" charset="-120"/>
              </a:rPr>
              <a:t>Delivered</a:t>
            </a:r>
            <a:endParaRPr lang="en-US" sz="1500" dirty="0"/>
          </a:p>
        </p:txBody>
      </p:sp>
      <p:sp>
        <p:nvSpPr>
          <p:cNvPr id="14" name="Text 11"/>
          <p:cNvSpPr txBox="1"/>
          <p:nvPr/>
        </p:nvSpPr>
        <p:spPr>
          <a:xfrm>
            <a:off x="9692640" y="2788920"/>
            <a:ext cx="1691640" cy="868680"/>
          </a:xfrm>
          <a:prstGeom prst="rect">
            <a:avLst/>
          </a:prstGeom>
          <a:noFill/>
          <a:ln/>
        </p:spPr>
        <p:txBody>
          <a:bodyPr wrap="square" lIns="0" tIns="0" rIns="0" bIns="0" rtlCol="0" anchor="ctr"/>
          <a:lstStyle/>
          <a:p>
            <a:pPr algn="r" indent="0" marL="0">
              <a:buNone/>
            </a:pPr>
            <a:r>
              <a:rPr lang="en-US" sz="2200" b="1" dirty="0">
                <a:solidFill>
                  <a:srgbClr val="F96167"/>
                </a:solidFill>
                <a:latin typeface="Cambria" pitchFamily="34" charset="0"/>
                <a:ea typeface="Cambria" pitchFamily="34" charset="-122"/>
                <a:cs typeface="Cambria" pitchFamily="34" charset="-120"/>
              </a:rPr>
              <a:t>92.3%</a:t>
            </a:r>
            <a:endParaRPr lang="en-US" sz="2200" dirty="0"/>
          </a:p>
        </p:txBody>
      </p:sp>
      <p:sp>
        <p:nvSpPr>
          <p:cNvPr id="15" name="Shape 12"/>
          <p:cNvSpPr/>
          <p:nvPr/>
        </p:nvSpPr>
        <p:spPr>
          <a:xfrm>
            <a:off x="6309360" y="3840480"/>
            <a:ext cx="5212080" cy="868680"/>
          </a:xfrm>
          <a:prstGeom prst="roundRect">
            <a:avLst>
              <a:gd name="adj" fmla="val 6316"/>
            </a:avLst>
          </a:prstGeom>
          <a:solidFill>
            <a:srgbClr val="F5F6FA"/>
          </a:solidFill>
          <a:ln/>
        </p:spPr>
      </p:sp>
      <p:sp>
        <p:nvSpPr>
          <p:cNvPr id="16" name="Shape 13"/>
          <p:cNvSpPr/>
          <p:nvPr/>
        </p:nvSpPr>
        <p:spPr>
          <a:xfrm>
            <a:off x="6537960" y="4096512"/>
            <a:ext cx="365760" cy="365760"/>
          </a:xfrm>
          <a:prstGeom prst="ellipse">
            <a:avLst/>
          </a:prstGeom>
          <a:solidFill>
            <a:srgbClr val="B7BEDD"/>
          </a:solidFill>
          <a:ln/>
        </p:spPr>
      </p:sp>
      <p:sp>
        <p:nvSpPr>
          <p:cNvPr id="17" name="Text 14"/>
          <p:cNvSpPr txBox="1"/>
          <p:nvPr/>
        </p:nvSpPr>
        <p:spPr>
          <a:xfrm>
            <a:off x="7040880" y="3931920"/>
            <a:ext cx="2926080" cy="365760"/>
          </a:xfrm>
          <a:prstGeom prst="rect">
            <a:avLst/>
          </a:prstGeom>
          <a:noFill/>
          <a:ln/>
        </p:spPr>
        <p:txBody>
          <a:bodyPr wrap="square" lIns="0" tIns="0" rIns="0" bIns="0" rtlCol="0" anchor="b"/>
          <a:lstStyle/>
          <a:p>
            <a:pPr indent="0" marL="0">
              <a:buNone/>
            </a:pPr>
            <a:r>
              <a:rPr lang="en-US" sz="1500" b="1" dirty="0">
                <a:solidFill>
                  <a:srgbClr val="2F3C7E"/>
                </a:solidFill>
                <a:latin typeface="Calibri" pitchFamily="34" charset="0"/>
                <a:ea typeface="Calibri" pitchFamily="34" charset="-122"/>
                <a:cs typeface="Calibri" pitchFamily="34" charset="-120"/>
              </a:rPr>
              <a:t>Refunded</a:t>
            </a:r>
            <a:endParaRPr lang="en-US" sz="1500" dirty="0"/>
          </a:p>
        </p:txBody>
      </p:sp>
      <p:sp>
        <p:nvSpPr>
          <p:cNvPr id="18" name="Text 15"/>
          <p:cNvSpPr txBox="1"/>
          <p:nvPr/>
        </p:nvSpPr>
        <p:spPr>
          <a:xfrm>
            <a:off x="9692640" y="3840480"/>
            <a:ext cx="1691640" cy="868680"/>
          </a:xfrm>
          <a:prstGeom prst="rect">
            <a:avLst/>
          </a:prstGeom>
          <a:noFill/>
          <a:ln/>
        </p:spPr>
        <p:txBody>
          <a:bodyPr wrap="square" lIns="0" tIns="0" rIns="0" bIns="0" rtlCol="0" anchor="ctr"/>
          <a:lstStyle/>
          <a:p>
            <a:pPr algn="r" indent="0" marL="0">
              <a:buNone/>
            </a:pPr>
            <a:r>
              <a:rPr lang="en-US" sz="2200" b="1" dirty="0">
                <a:solidFill>
                  <a:srgbClr val="B7BEDD"/>
                </a:solidFill>
                <a:latin typeface="Cambria" pitchFamily="34" charset="0"/>
                <a:ea typeface="Cambria" pitchFamily="34" charset="-122"/>
                <a:cs typeface="Cambria" pitchFamily="34" charset="-120"/>
              </a:rPr>
              <a:t>1.7%</a:t>
            </a:r>
            <a:endParaRPr lang="en-US" sz="2200" dirty="0"/>
          </a:p>
        </p:txBody>
      </p:sp>
      <p:sp>
        <p:nvSpPr>
          <p:cNvPr id="19" name="Shape 16"/>
          <p:cNvSpPr/>
          <p:nvPr/>
        </p:nvSpPr>
        <p:spPr>
          <a:xfrm>
            <a:off x="6309360" y="4892040"/>
            <a:ext cx="5212080" cy="868680"/>
          </a:xfrm>
          <a:prstGeom prst="roundRect">
            <a:avLst>
              <a:gd name="adj" fmla="val 6316"/>
            </a:avLst>
          </a:prstGeom>
          <a:solidFill>
            <a:srgbClr val="F5F6FA"/>
          </a:solidFill>
          <a:ln/>
        </p:spPr>
      </p:sp>
      <p:sp>
        <p:nvSpPr>
          <p:cNvPr id="20" name="Shape 17"/>
          <p:cNvSpPr/>
          <p:nvPr/>
        </p:nvSpPr>
        <p:spPr>
          <a:xfrm>
            <a:off x="6537960" y="5148072"/>
            <a:ext cx="365760" cy="365760"/>
          </a:xfrm>
          <a:prstGeom prst="ellipse">
            <a:avLst/>
          </a:prstGeom>
          <a:solidFill>
            <a:srgbClr val="2F3C7E"/>
          </a:solidFill>
          <a:ln/>
        </p:spPr>
      </p:sp>
      <p:sp>
        <p:nvSpPr>
          <p:cNvPr id="21" name="Text 18"/>
          <p:cNvSpPr txBox="1"/>
          <p:nvPr/>
        </p:nvSpPr>
        <p:spPr>
          <a:xfrm>
            <a:off x="7040880" y="4983480"/>
            <a:ext cx="2926080" cy="365760"/>
          </a:xfrm>
          <a:prstGeom prst="rect">
            <a:avLst/>
          </a:prstGeom>
          <a:noFill/>
          <a:ln/>
        </p:spPr>
        <p:txBody>
          <a:bodyPr wrap="square" lIns="0" tIns="0" rIns="0" bIns="0" rtlCol="0" anchor="b"/>
          <a:lstStyle/>
          <a:p>
            <a:pPr indent="0" marL="0">
              <a:buNone/>
            </a:pPr>
            <a:r>
              <a:rPr lang="en-US" sz="1500" b="1" dirty="0">
                <a:solidFill>
                  <a:srgbClr val="2F3C7E"/>
                </a:solidFill>
                <a:latin typeface="Calibri" pitchFamily="34" charset="0"/>
                <a:ea typeface="Calibri" pitchFamily="34" charset="-122"/>
                <a:cs typeface="Calibri" pitchFamily="34" charset="-120"/>
              </a:rPr>
              <a:t>Returned</a:t>
            </a:r>
            <a:endParaRPr lang="en-US" sz="1500" dirty="0"/>
          </a:p>
        </p:txBody>
      </p:sp>
      <p:sp>
        <p:nvSpPr>
          <p:cNvPr id="22" name="Text 19"/>
          <p:cNvSpPr txBox="1"/>
          <p:nvPr/>
        </p:nvSpPr>
        <p:spPr>
          <a:xfrm>
            <a:off x="9692640" y="4892040"/>
            <a:ext cx="1691640" cy="868680"/>
          </a:xfrm>
          <a:prstGeom prst="rect">
            <a:avLst/>
          </a:prstGeom>
          <a:noFill/>
          <a:ln/>
        </p:spPr>
        <p:txBody>
          <a:bodyPr wrap="square" lIns="0" tIns="0" rIns="0" bIns="0" rtlCol="0" anchor="ctr"/>
          <a:lstStyle/>
          <a:p>
            <a:pPr algn="r" indent="0" marL="0">
              <a:buNone/>
            </a:pPr>
            <a:r>
              <a:rPr lang="en-US" sz="2200" b="1" dirty="0">
                <a:solidFill>
                  <a:srgbClr val="2F3C7E"/>
                </a:solidFill>
                <a:latin typeface="Cambria" pitchFamily="34" charset="0"/>
                <a:ea typeface="Cambria" pitchFamily="34" charset="-122"/>
                <a:cs typeface="Cambria" pitchFamily="34" charset="-120"/>
              </a:rPr>
              <a:t>3.4%</a:t>
            </a:r>
            <a:endParaRPr lang="en-US" sz="2200" dirty="0"/>
          </a:p>
        </p:txBody>
      </p:sp>
      <p:sp>
        <p:nvSpPr>
          <p:cNvPr id="23" name="Text 2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24" name="Text 21"/>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Top 10 States by Revenue</a:t>
            </a:r>
            <a:endParaRPr lang="en-US" sz="3000" dirty="0"/>
          </a:p>
        </p:txBody>
      </p:sp>
      <p:sp>
        <p:nvSpPr>
          <p:cNvPr id="3" name="Text 1"/>
          <p:cNvSpPr txBox="1"/>
          <p:nvPr/>
        </p:nvSpPr>
        <p:spPr>
          <a:xfrm>
            <a:off x="548640" y="960120"/>
            <a:ext cx="10515600" cy="365760"/>
          </a:xfrm>
          <a:prstGeom prst="rect">
            <a:avLst/>
          </a:prstGeom>
          <a:noFill/>
          <a:ln/>
        </p:spPr>
        <p:txBody>
          <a:bodyPr wrap="square" lIns="0" tIns="0" rIns="0" bIns="0" rtlCol="0" anchor="ctr"/>
          <a:lstStyle/>
          <a:p>
            <a:pPr indent="0" marL="0">
              <a:buNone/>
            </a:pPr>
            <a:r>
              <a:rPr lang="en-US" sz="1300" i="1" dirty="0">
                <a:solidFill>
                  <a:srgbClr val="5B5F6B"/>
                </a:solidFill>
                <a:latin typeface="Calibri" pitchFamily="34" charset="0"/>
                <a:ea typeface="Calibri" pitchFamily="34" charset="-122"/>
                <a:cs typeface="Calibri" pitchFamily="34" charset="-120"/>
              </a:rPr>
              <a:t>Maharashtra, Karnataka and Uttar Pradesh lead the country in total sales</a:t>
            </a:r>
            <a:endParaRPr lang="en-US" sz="1300" dirty="0"/>
          </a:p>
        </p:txBody>
      </p:sp>
      <p:graphicFrame>
        <p:nvGraphicFramePr>
          <p:cNvPr id="4" name="Chart 0" descr=""/>
          <p:cNvGraphicFramePr/>
          <p:nvPr/>
        </p:nvGraphicFramePr>
        <p:xfrm>
          <a:off x="548640" y="1463040"/>
          <a:ext cx="1106424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6" name="Text 3"/>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Men vs Women Sales</a:t>
            </a:r>
            <a:endParaRPr lang="en-US" sz="3000" dirty="0"/>
          </a:p>
        </p:txBody>
      </p:sp>
      <p:sp>
        <p:nvSpPr>
          <p:cNvPr id="3" name="Text 1"/>
          <p:cNvSpPr txBox="1"/>
          <p:nvPr/>
        </p:nvSpPr>
        <p:spPr>
          <a:xfrm>
            <a:off x="548640" y="960120"/>
            <a:ext cx="10515600" cy="365760"/>
          </a:xfrm>
          <a:prstGeom prst="rect">
            <a:avLst/>
          </a:prstGeom>
          <a:noFill/>
          <a:ln/>
        </p:spPr>
        <p:txBody>
          <a:bodyPr wrap="square" lIns="0" tIns="0" rIns="0" bIns="0" rtlCol="0" anchor="ctr"/>
          <a:lstStyle/>
          <a:p>
            <a:pPr indent="0" marL="0">
              <a:buNone/>
            </a:pPr>
            <a:r>
              <a:rPr lang="en-US" sz="1300" i="1" dirty="0">
                <a:solidFill>
                  <a:srgbClr val="5B5F6B"/>
                </a:solidFill>
                <a:latin typeface="Calibri" pitchFamily="34" charset="0"/>
                <a:ea typeface="Calibri" pitchFamily="34" charset="-122"/>
                <a:cs typeface="Calibri" pitchFamily="34" charset="-120"/>
              </a:rPr>
              <a:t>Women drive nearly two-thirds of total revenue</a:t>
            </a:r>
            <a:endParaRPr lang="en-US" sz="1300" dirty="0"/>
          </a:p>
        </p:txBody>
      </p:sp>
      <p:graphicFrame>
        <p:nvGraphicFramePr>
          <p:cNvPr id="4" name="Chart 0" descr=""/>
          <p:cNvGraphicFramePr/>
          <p:nvPr/>
        </p:nvGraphicFramePr>
        <p:xfrm>
          <a:off x="1188720" y="1554480"/>
          <a:ext cx="51206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2377440"/>
            <a:ext cx="4572000" cy="1371600"/>
          </a:xfrm>
          <a:prstGeom prst="roundRect">
            <a:avLst>
              <a:gd name="adj" fmla="val 5333"/>
            </a:avLst>
          </a:prstGeom>
          <a:solidFill>
            <a:srgbClr val="F5F6FA"/>
          </a:solidFill>
          <a:ln/>
        </p:spPr>
      </p:sp>
      <p:sp>
        <p:nvSpPr>
          <p:cNvPr id="6" name="Shape 3"/>
          <p:cNvSpPr/>
          <p:nvPr/>
        </p:nvSpPr>
        <p:spPr>
          <a:xfrm>
            <a:off x="6949440" y="2377440"/>
            <a:ext cx="128016" cy="1371600"/>
          </a:xfrm>
          <a:prstGeom prst="rect">
            <a:avLst/>
          </a:prstGeom>
          <a:solidFill>
            <a:srgbClr val="F96167"/>
          </a:solidFill>
          <a:ln/>
        </p:spPr>
      </p:sp>
      <p:sp>
        <p:nvSpPr>
          <p:cNvPr id="7" name="Text 4"/>
          <p:cNvSpPr txBox="1"/>
          <p:nvPr/>
        </p:nvSpPr>
        <p:spPr>
          <a:xfrm>
            <a:off x="7315200" y="2514600"/>
            <a:ext cx="3931920" cy="64008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36%</a:t>
            </a:r>
            <a:endParaRPr lang="en-US" sz="3000" dirty="0"/>
          </a:p>
        </p:txBody>
      </p:sp>
      <p:sp>
        <p:nvSpPr>
          <p:cNvPr id="8" name="Text 5"/>
          <p:cNvSpPr txBox="1"/>
          <p:nvPr/>
        </p:nvSpPr>
        <p:spPr>
          <a:xfrm>
            <a:off x="7315200" y="3154680"/>
            <a:ext cx="3931920" cy="365760"/>
          </a:xfrm>
          <a:prstGeom prst="rect">
            <a:avLst/>
          </a:prstGeom>
          <a:noFill/>
          <a:ln/>
        </p:spPr>
        <p:txBody>
          <a:bodyPr wrap="square" lIns="0" tIns="0" rIns="0" bIns="0" rtlCol="0" anchor="ctr"/>
          <a:lstStyle/>
          <a:p>
            <a:pPr indent="0" marL="0">
              <a:buNone/>
            </a:pPr>
            <a:r>
              <a:rPr lang="en-US" sz="1300" dirty="0">
                <a:solidFill>
                  <a:srgbClr val="5B5F6B"/>
                </a:solidFill>
                <a:latin typeface="Calibri" pitchFamily="34" charset="0"/>
                <a:ea typeface="Calibri" pitchFamily="34" charset="-122"/>
                <a:cs typeface="Calibri" pitchFamily="34" charset="-120"/>
              </a:rPr>
              <a:t>Men customers</a:t>
            </a:r>
            <a:endParaRPr lang="en-US" sz="1300" dirty="0"/>
          </a:p>
        </p:txBody>
      </p:sp>
      <p:sp>
        <p:nvSpPr>
          <p:cNvPr id="9" name="Shape 6"/>
          <p:cNvSpPr/>
          <p:nvPr/>
        </p:nvSpPr>
        <p:spPr>
          <a:xfrm>
            <a:off x="6949440" y="4114800"/>
            <a:ext cx="4572000" cy="1371600"/>
          </a:xfrm>
          <a:prstGeom prst="roundRect">
            <a:avLst>
              <a:gd name="adj" fmla="val 5333"/>
            </a:avLst>
          </a:prstGeom>
          <a:solidFill>
            <a:srgbClr val="F5F6FA"/>
          </a:solidFill>
          <a:ln/>
        </p:spPr>
      </p:sp>
      <p:sp>
        <p:nvSpPr>
          <p:cNvPr id="10" name="Shape 7"/>
          <p:cNvSpPr/>
          <p:nvPr/>
        </p:nvSpPr>
        <p:spPr>
          <a:xfrm>
            <a:off x="6949440" y="4114800"/>
            <a:ext cx="128016" cy="1371600"/>
          </a:xfrm>
          <a:prstGeom prst="rect">
            <a:avLst/>
          </a:prstGeom>
          <a:solidFill>
            <a:srgbClr val="2F3C7E"/>
          </a:solidFill>
          <a:ln/>
        </p:spPr>
      </p:sp>
      <p:sp>
        <p:nvSpPr>
          <p:cNvPr id="11" name="Text 8"/>
          <p:cNvSpPr txBox="1"/>
          <p:nvPr/>
        </p:nvSpPr>
        <p:spPr>
          <a:xfrm>
            <a:off x="7315200" y="4251960"/>
            <a:ext cx="3931920" cy="64008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64%</a:t>
            </a:r>
            <a:endParaRPr lang="en-US" sz="3000" dirty="0"/>
          </a:p>
        </p:txBody>
      </p:sp>
      <p:sp>
        <p:nvSpPr>
          <p:cNvPr id="12" name="Text 9"/>
          <p:cNvSpPr txBox="1"/>
          <p:nvPr/>
        </p:nvSpPr>
        <p:spPr>
          <a:xfrm>
            <a:off x="7315200" y="4892040"/>
            <a:ext cx="3931920" cy="365760"/>
          </a:xfrm>
          <a:prstGeom prst="rect">
            <a:avLst/>
          </a:prstGeom>
          <a:noFill/>
          <a:ln/>
        </p:spPr>
        <p:txBody>
          <a:bodyPr wrap="square" lIns="0" tIns="0" rIns="0" bIns="0" rtlCol="0" anchor="ctr"/>
          <a:lstStyle/>
          <a:p>
            <a:pPr indent="0" marL="0">
              <a:buNone/>
            </a:pPr>
            <a:r>
              <a:rPr lang="en-US" sz="1300" dirty="0">
                <a:solidFill>
                  <a:srgbClr val="5B5F6B"/>
                </a:solidFill>
                <a:latin typeface="Calibri" pitchFamily="34" charset="0"/>
                <a:ea typeface="Calibri" pitchFamily="34" charset="-122"/>
                <a:cs typeface="Calibri" pitchFamily="34" charset="-120"/>
              </a:rPr>
              <a:t>Women customers</a:t>
            </a:r>
            <a:endParaRPr lang="en-US" sz="1300" dirty="0"/>
          </a:p>
        </p:txBody>
      </p:sp>
      <p:sp>
        <p:nvSpPr>
          <p:cNvPr id="13" name="Text 1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14" name="Text 11"/>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Revenue by Age Group &amp; Gender</a:t>
            </a:r>
            <a:endParaRPr lang="en-US" sz="3000" dirty="0"/>
          </a:p>
        </p:txBody>
      </p:sp>
      <p:sp>
        <p:nvSpPr>
          <p:cNvPr id="3" name="Text 1"/>
          <p:cNvSpPr txBox="1"/>
          <p:nvPr/>
        </p:nvSpPr>
        <p:spPr>
          <a:xfrm>
            <a:off x="548640" y="960120"/>
            <a:ext cx="10515600" cy="365760"/>
          </a:xfrm>
          <a:prstGeom prst="rect">
            <a:avLst/>
          </a:prstGeom>
          <a:noFill/>
          <a:ln/>
        </p:spPr>
        <p:txBody>
          <a:bodyPr wrap="square" lIns="0" tIns="0" rIns="0" bIns="0" rtlCol="0" anchor="ctr"/>
          <a:lstStyle/>
          <a:p>
            <a:pPr indent="0" marL="0">
              <a:buNone/>
            </a:pPr>
            <a:r>
              <a:rPr lang="en-US" sz="1300" i="1" dirty="0">
                <a:solidFill>
                  <a:srgbClr val="5B5F6B"/>
                </a:solidFill>
                <a:latin typeface="Calibri" pitchFamily="34" charset="0"/>
                <a:ea typeface="Calibri" pitchFamily="34" charset="-122"/>
                <a:cs typeface="Calibri" pitchFamily="34" charset="-120"/>
              </a:rPr>
              <a:t>Adult women (19–50) alone contribute 54% of all revenue</a:t>
            </a:r>
            <a:endParaRPr lang="en-US" sz="1300" dirty="0"/>
          </a:p>
        </p:txBody>
      </p:sp>
      <p:graphicFrame>
        <p:nvGraphicFramePr>
          <p:cNvPr id="4" name="Chart 0" descr=""/>
          <p:cNvGraphicFramePr/>
          <p:nvPr/>
        </p:nvGraphicFramePr>
        <p:xfrm>
          <a:off x="548640" y="1463040"/>
          <a:ext cx="1106424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6" name="Text 3"/>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Orders by Channel</a:t>
            </a:r>
            <a:endParaRPr lang="en-US" sz="3000" dirty="0"/>
          </a:p>
        </p:txBody>
      </p:sp>
      <p:sp>
        <p:nvSpPr>
          <p:cNvPr id="3" name="Text 1"/>
          <p:cNvSpPr txBox="1"/>
          <p:nvPr/>
        </p:nvSpPr>
        <p:spPr>
          <a:xfrm>
            <a:off x="548640" y="960120"/>
            <a:ext cx="10515600" cy="365760"/>
          </a:xfrm>
          <a:prstGeom prst="rect">
            <a:avLst/>
          </a:prstGeom>
          <a:noFill/>
          <a:ln/>
        </p:spPr>
        <p:txBody>
          <a:bodyPr wrap="square" lIns="0" tIns="0" rIns="0" bIns="0" rtlCol="0" anchor="ctr"/>
          <a:lstStyle/>
          <a:p>
            <a:pPr indent="0" marL="0">
              <a:buNone/>
            </a:pPr>
            <a:r>
              <a:rPr lang="en-US" sz="1300" i="1" dirty="0">
                <a:solidFill>
                  <a:srgbClr val="5B5F6B"/>
                </a:solidFill>
                <a:latin typeface="Calibri" pitchFamily="34" charset="0"/>
                <a:ea typeface="Calibri" pitchFamily="34" charset="-122"/>
                <a:cs typeface="Calibri" pitchFamily="34" charset="-120"/>
              </a:rPr>
              <a:t>Amazon is the top channel with 35% of orders, ahead of Myntra and Flipkart</a:t>
            </a:r>
            <a:endParaRPr lang="en-US" sz="1300" dirty="0"/>
          </a:p>
        </p:txBody>
      </p:sp>
      <p:graphicFrame>
        <p:nvGraphicFramePr>
          <p:cNvPr id="4" name="Chart 0" descr=""/>
          <p:cNvGraphicFramePr/>
          <p:nvPr/>
        </p:nvGraphicFramePr>
        <p:xfrm>
          <a:off x="1463040" y="1417320"/>
          <a:ext cx="5120640" cy="4937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40880" y="1554480"/>
            <a:ext cx="2423160" cy="868680"/>
          </a:xfrm>
          <a:prstGeom prst="roundRect">
            <a:avLst>
              <a:gd name="adj" fmla="val 6316"/>
            </a:avLst>
          </a:prstGeom>
          <a:solidFill>
            <a:srgbClr val="F5F6FA"/>
          </a:solidFill>
          <a:ln/>
        </p:spPr>
      </p:sp>
      <p:sp>
        <p:nvSpPr>
          <p:cNvPr id="6" name="Shape 3"/>
          <p:cNvSpPr/>
          <p:nvPr/>
        </p:nvSpPr>
        <p:spPr>
          <a:xfrm>
            <a:off x="7205472" y="1828800"/>
            <a:ext cx="292608" cy="292608"/>
          </a:xfrm>
          <a:prstGeom prst="ellipse">
            <a:avLst/>
          </a:prstGeom>
          <a:solidFill>
            <a:srgbClr val="F9E795"/>
          </a:solidFill>
          <a:ln/>
        </p:spPr>
      </p:sp>
      <p:sp>
        <p:nvSpPr>
          <p:cNvPr id="7" name="Text 4"/>
          <p:cNvSpPr txBox="1"/>
          <p:nvPr/>
        </p:nvSpPr>
        <p:spPr>
          <a:xfrm>
            <a:off x="7607808" y="1627632"/>
            <a:ext cx="1691640" cy="365760"/>
          </a:xfrm>
          <a:prstGeom prst="rect">
            <a:avLst/>
          </a:prstGeom>
          <a:noFill/>
          <a:ln/>
        </p:spPr>
        <p:txBody>
          <a:bodyPr wrap="square" lIns="0" tIns="0" rIns="0" bIns="0" rtlCol="0" anchor="b"/>
          <a:lstStyle/>
          <a:p>
            <a:pPr indent="0" marL="0">
              <a:buNone/>
            </a:pPr>
            <a:r>
              <a:rPr lang="en-US" sz="1250" b="1" dirty="0">
                <a:solidFill>
                  <a:srgbClr val="2F3C7E"/>
                </a:solidFill>
                <a:latin typeface="Calibri" pitchFamily="34" charset="0"/>
                <a:ea typeface="Calibri" pitchFamily="34" charset="-122"/>
                <a:cs typeface="Calibri" pitchFamily="34" charset="-120"/>
              </a:rPr>
              <a:t>Ajio</a:t>
            </a:r>
            <a:endParaRPr lang="en-US" sz="1250" dirty="0"/>
          </a:p>
        </p:txBody>
      </p:sp>
      <p:sp>
        <p:nvSpPr>
          <p:cNvPr id="8" name="Text 5"/>
          <p:cNvSpPr txBox="1"/>
          <p:nvPr/>
        </p:nvSpPr>
        <p:spPr>
          <a:xfrm>
            <a:off x="7607808" y="1938528"/>
            <a:ext cx="169164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6.2%</a:t>
            </a:r>
            <a:endParaRPr lang="en-US" sz="1500" dirty="0"/>
          </a:p>
        </p:txBody>
      </p:sp>
      <p:sp>
        <p:nvSpPr>
          <p:cNvPr id="9" name="Shape 6"/>
          <p:cNvSpPr/>
          <p:nvPr/>
        </p:nvSpPr>
        <p:spPr>
          <a:xfrm>
            <a:off x="9646920" y="1554480"/>
            <a:ext cx="2423160" cy="868680"/>
          </a:xfrm>
          <a:prstGeom prst="roundRect">
            <a:avLst>
              <a:gd name="adj" fmla="val 6316"/>
            </a:avLst>
          </a:prstGeom>
          <a:solidFill>
            <a:srgbClr val="F5F6FA"/>
          </a:solidFill>
          <a:ln/>
        </p:spPr>
      </p:sp>
      <p:sp>
        <p:nvSpPr>
          <p:cNvPr id="10" name="Shape 7"/>
          <p:cNvSpPr/>
          <p:nvPr/>
        </p:nvSpPr>
        <p:spPr>
          <a:xfrm>
            <a:off x="9811512" y="1828800"/>
            <a:ext cx="292608" cy="292608"/>
          </a:xfrm>
          <a:prstGeom prst="ellipse">
            <a:avLst/>
          </a:prstGeom>
          <a:solidFill>
            <a:srgbClr val="F96167"/>
          </a:solidFill>
          <a:ln/>
        </p:spPr>
      </p:sp>
      <p:sp>
        <p:nvSpPr>
          <p:cNvPr id="11" name="Text 8"/>
          <p:cNvSpPr txBox="1"/>
          <p:nvPr/>
        </p:nvSpPr>
        <p:spPr>
          <a:xfrm>
            <a:off x="10213848" y="1627632"/>
            <a:ext cx="1691640" cy="365760"/>
          </a:xfrm>
          <a:prstGeom prst="rect">
            <a:avLst/>
          </a:prstGeom>
          <a:noFill/>
          <a:ln/>
        </p:spPr>
        <p:txBody>
          <a:bodyPr wrap="square" lIns="0" tIns="0" rIns="0" bIns="0" rtlCol="0" anchor="b"/>
          <a:lstStyle/>
          <a:p>
            <a:pPr indent="0" marL="0">
              <a:buNone/>
            </a:pPr>
            <a:r>
              <a:rPr lang="en-US" sz="1250" b="1" dirty="0">
                <a:solidFill>
                  <a:srgbClr val="2F3C7E"/>
                </a:solidFill>
                <a:latin typeface="Calibri" pitchFamily="34" charset="0"/>
                <a:ea typeface="Calibri" pitchFamily="34" charset="-122"/>
                <a:cs typeface="Calibri" pitchFamily="34" charset="-120"/>
              </a:rPr>
              <a:t>Amazon</a:t>
            </a:r>
            <a:endParaRPr lang="en-US" sz="1250" dirty="0"/>
          </a:p>
        </p:txBody>
      </p:sp>
      <p:sp>
        <p:nvSpPr>
          <p:cNvPr id="12" name="Text 9"/>
          <p:cNvSpPr txBox="1"/>
          <p:nvPr/>
        </p:nvSpPr>
        <p:spPr>
          <a:xfrm>
            <a:off x="10213848" y="1938528"/>
            <a:ext cx="169164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35.5%</a:t>
            </a:r>
            <a:endParaRPr lang="en-US" sz="1500" dirty="0"/>
          </a:p>
        </p:txBody>
      </p:sp>
      <p:sp>
        <p:nvSpPr>
          <p:cNvPr id="13" name="Shape 10"/>
          <p:cNvSpPr/>
          <p:nvPr/>
        </p:nvSpPr>
        <p:spPr>
          <a:xfrm>
            <a:off x="7040880" y="2560320"/>
            <a:ext cx="2423160" cy="868680"/>
          </a:xfrm>
          <a:prstGeom prst="roundRect">
            <a:avLst>
              <a:gd name="adj" fmla="val 6316"/>
            </a:avLst>
          </a:prstGeom>
          <a:solidFill>
            <a:srgbClr val="F5F6FA"/>
          </a:solidFill>
          <a:ln/>
        </p:spPr>
      </p:sp>
      <p:sp>
        <p:nvSpPr>
          <p:cNvPr id="14" name="Shape 11"/>
          <p:cNvSpPr/>
          <p:nvPr/>
        </p:nvSpPr>
        <p:spPr>
          <a:xfrm>
            <a:off x="7205472" y="2834640"/>
            <a:ext cx="292608" cy="292608"/>
          </a:xfrm>
          <a:prstGeom prst="ellipse">
            <a:avLst/>
          </a:prstGeom>
          <a:solidFill>
            <a:srgbClr val="2F3C7E"/>
          </a:solidFill>
          <a:ln/>
        </p:spPr>
      </p:sp>
      <p:sp>
        <p:nvSpPr>
          <p:cNvPr id="15" name="Text 12"/>
          <p:cNvSpPr txBox="1"/>
          <p:nvPr/>
        </p:nvSpPr>
        <p:spPr>
          <a:xfrm>
            <a:off x="7607808" y="2633472"/>
            <a:ext cx="1691640" cy="365760"/>
          </a:xfrm>
          <a:prstGeom prst="rect">
            <a:avLst/>
          </a:prstGeom>
          <a:noFill/>
          <a:ln/>
        </p:spPr>
        <p:txBody>
          <a:bodyPr wrap="square" lIns="0" tIns="0" rIns="0" bIns="0" rtlCol="0" anchor="b"/>
          <a:lstStyle/>
          <a:p>
            <a:pPr indent="0" marL="0">
              <a:buNone/>
            </a:pPr>
            <a:r>
              <a:rPr lang="en-US" sz="1250" b="1" dirty="0">
                <a:solidFill>
                  <a:srgbClr val="2F3C7E"/>
                </a:solidFill>
                <a:latin typeface="Calibri" pitchFamily="34" charset="0"/>
                <a:ea typeface="Calibri" pitchFamily="34" charset="-122"/>
                <a:cs typeface="Calibri" pitchFamily="34" charset="-120"/>
              </a:rPr>
              <a:t>Flipkart</a:t>
            </a:r>
            <a:endParaRPr lang="en-US" sz="1250" dirty="0"/>
          </a:p>
        </p:txBody>
      </p:sp>
      <p:sp>
        <p:nvSpPr>
          <p:cNvPr id="16" name="Text 13"/>
          <p:cNvSpPr txBox="1"/>
          <p:nvPr/>
        </p:nvSpPr>
        <p:spPr>
          <a:xfrm>
            <a:off x="7607808" y="2944368"/>
            <a:ext cx="169164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21.6%</a:t>
            </a:r>
            <a:endParaRPr lang="en-US" sz="1500" dirty="0"/>
          </a:p>
        </p:txBody>
      </p:sp>
      <p:sp>
        <p:nvSpPr>
          <p:cNvPr id="17" name="Shape 14"/>
          <p:cNvSpPr/>
          <p:nvPr/>
        </p:nvSpPr>
        <p:spPr>
          <a:xfrm>
            <a:off x="9646920" y="2560320"/>
            <a:ext cx="2423160" cy="868680"/>
          </a:xfrm>
          <a:prstGeom prst="roundRect">
            <a:avLst>
              <a:gd name="adj" fmla="val 6316"/>
            </a:avLst>
          </a:prstGeom>
          <a:solidFill>
            <a:srgbClr val="F5F6FA"/>
          </a:solidFill>
          <a:ln/>
        </p:spPr>
      </p:sp>
      <p:sp>
        <p:nvSpPr>
          <p:cNvPr id="18" name="Shape 15"/>
          <p:cNvSpPr/>
          <p:nvPr/>
        </p:nvSpPr>
        <p:spPr>
          <a:xfrm>
            <a:off x="9811512" y="2834640"/>
            <a:ext cx="292608" cy="292608"/>
          </a:xfrm>
          <a:prstGeom prst="ellipse">
            <a:avLst/>
          </a:prstGeom>
          <a:solidFill>
            <a:srgbClr val="B7BEDD"/>
          </a:solidFill>
          <a:ln/>
        </p:spPr>
      </p:sp>
      <p:sp>
        <p:nvSpPr>
          <p:cNvPr id="19" name="Text 16"/>
          <p:cNvSpPr txBox="1"/>
          <p:nvPr/>
        </p:nvSpPr>
        <p:spPr>
          <a:xfrm>
            <a:off x="10213848" y="2633472"/>
            <a:ext cx="1691640" cy="365760"/>
          </a:xfrm>
          <a:prstGeom prst="rect">
            <a:avLst/>
          </a:prstGeom>
          <a:noFill/>
          <a:ln/>
        </p:spPr>
        <p:txBody>
          <a:bodyPr wrap="square" lIns="0" tIns="0" rIns="0" bIns="0" rtlCol="0" anchor="b"/>
          <a:lstStyle/>
          <a:p>
            <a:pPr indent="0" marL="0">
              <a:buNone/>
            </a:pPr>
            <a:r>
              <a:rPr lang="en-US" sz="1250" b="1" dirty="0">
                <a:solidFill>
                  <a:srgbClr val="2F3C7E"/>
                </a:solidFill>
                <a:latin typeface="Calibri" pitchFamily="34" charset="0"/>
                <a:ea typeface="Calibri" pitchFamily="34" charset="-122"/>
                <a:cs typeface="Calibri" pitchFamily="34" charset="-120"/>
              </a:rPr>
              <a:t>Meesho</a:t>
            </a:r>
            <a:endParaRPr lang="en-US" sz="1250" dirty="0"/>
          </a:p>
        </p:txBody>
      </p:sp>
      <p:sp>
        <p:nvSpPr>
          <p:cNvPr id="20" name="Text 17"/>
          <p:cNvSpPr txBox="1"/>
          <p:nvPr/>
        </p:nvSpPr>
        <p:spPr>
          <a:xfrm>
            <a:off x="10213848" y="2944368"/>
            <a:ext cx="169164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4.5%</a:t>
            </a:r>
            <a:endParaRPr lang="en-US" sz="1500" dirty="0"/>
          </a:p>
        </p:txBody>
      </p:sp>
      <p:sp>
        <p:nvSpPr>
          <p:cNvPr id="21" name="Shape 18"/>
          <p:cNvSpPr/>
          <p:nvPr/>
        </p:nvSpPr>
        <p:spPr>
          <a:xfrm>
            <a:off x="7040880" y="3566160"/>
            <a:ext cx="2423160" cy="868680"/>
          </a:xfrm>
          <a:prstGeom prst="roundRect">
            <a:avLst>
              <a:gd name="adj" fmla="val 6316"/>
            </a:avLst>
          </a:prstGeom>
          <a:solidFill>
            <a:srgbClr val="F5F6FA"/>
          </a:solidFill>
          <a:ln/>
        </p:spPr>
      </p:sp>
      <p:sp>
        <p:nvSpPr>
          <p:cNvPr id="22" name="Shape 19"/>
          <p:cNvSpPr/>
          <p:nvPr/>
        </p:nvSpPr>
        <p:spPr>
          <a:xfrm>
            <a:off x="7205472" y="3840480"/>
            <a:ext cx="292608" cy="292608"/>
          </a:xfrm>
          <a:prstGeom prst="ellipse">
            <a:avLst/>
          </a:prstGeom>
          <a:solidFill>
            <a:srgbClr val="6E77AE"/>
          </a:solidFill>
          <a:ln/>
        </p:spPr>
      </p:sp>
      <p:sp>
        <p:nvSpPr>
          <p:cNvPr id="23" name="Text 20"/>
          <p:cNvSpPr txBox="1"/>
          <p:nvPr/>
        </p:nvSpPr>
        <p:spPr>
          <a:xfrm>
            <a:off x="7607808" y="3639312"/>
            <a:ext cx="1691640" cy="365760"/>
          </a:xfrm>
          <a:prstGeom prst="rect">
            <a:avLst/>
          </a:prstGeom>
          <a:noFill/>
          <a:ln/>
        </p:spPr>
        <p:txBody>
          <a:bodyPr wrap="square" lIns="0" tIns="0" rIns="0" bIns="0" rtlCol="0" anchor="b"/>
          <a:lstStyle/>
          <a:p>
            <a:pPr indent="0" marL="0">
              <a:buNone/>
            </a:pPr>
            <a:r>
              <a:rPr lang="en-US" sz="1250" b="1" dirty="0">
                <a:solidFill>
                  <a:srgbClr val="2F3C7E"/>
                </a:solidFill>
                <a:latin typeface="Calibri" pitchFamily="34" charset="0"/>
                <a:ea typeface="Calibri" pitchFamily="34" charset="-122"/>
                <a:cs typeface="Calibri" pitchFamily="34" charset="-120"/>
              </a:rPr>
              <a:t>Myntra</a:t>
            </a:r>
            <a:endParaRPr lang="en-US" sz="1250" dirty="0"/>
          </a:p>
        </p:txBody>
      </p:sp>
      <p:sp>
        <p:nvSpPr>
          <p:cNvPr id="24" name="Text 21"/>
          <p:cNvSpPr txBox="1"/>
          <p:nvPr/>
        </p:nvSpPr>
        <p:spPr>
          <a:xfrm>
            <a:off x="7607808" y="3950208"/>
            <a:ext cx="169164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23.4%</a:t>
            </a:r>
            <a:endParaRPr lang="en-US" sz="1500" dirty="0"/>
          </a:p>
        </p:txBody>
      </p:sp>
      <p:sp>
        <p:nvSpPr>
          <p:cNvPr id="25" name="Shape 22"/>
          <p:cNvSpPr/>
          <p:nvPr/>
        </p:nvSpPr>
        <p:spPr>
          <a:xfrm>
            <a:off x="9646920" y="3566160"/>
            <a:ext cx="2423160" cy="868680"/>
          </a:xfrm>
          <a:prstGeom prst="roundRect">
            <a:avLst>
              <a:gd name="adj" fmla="val 6316"/>
            </a:avLst>
          </a:prstGeom>
          <a:solidFill>
            <a:srgbClr val="F5F6FA"/>
          </a:solidFill>
          <a:ln/>
        </p:spPr>
      </p:sp>
      <p:sp>
        <p:nvSpPr>
          <p:cNvPr id="26" name="Shape 23"/>
          <p:cNvSpPr/>
          <p:nvPr/>
        </p:nvSpPr>
        <p:spPr>
          <a:xfrm>
            <a:off x="9811512" y="3840480"/>
            <a:ext cx="292608" cy="292608"/>
          </a:xfrm>
          <a:prstGeom prst="ellipse">
            <a:avLst/>
          </a:prstGeom>
          <a:solidFill>
            <a:srgbClr val="9C8A1E"/>
          </a:solidFill>
          <a:ln/>
        </p:spPr>
      </p:sp>
      <p:sp>
        <p:nvSpPr>
          <p:cNvPr id="27" name="Text 24"/>
          <p:cNvSpPr txBox="1"/>
          <p:nvPr/>
        </p:nvSpPr>
        <p:spPr>
          <a:xfrm>
            <a:off x="10213848" y="3639312"/>
            <a:ext cx="1691640" cy="365760"/>
          </a:xfrm>
          <a:prstGeom prst="rect">
            <a:avLst/>
          </a:prstGeom>
          <a:noFill/>
          <a:ln/>
        </p:spPr>
        <p:txBody>
          <a:bodyPr wrap="square" lIns="0" tIns="0" rIns="0" bIns="0" rtlCol="0" anchor="b"/>
          <a:lstStyle/>
          <a:p>
            <a:pPr indent="0" marL="0">
              <a:buNone/>
            </a:pPr>
            <a:r>
              <a:rPr lang="en-US" sz="1250" b="1" dirty="0">
                <a:solidFill>
                  <a:srgbClr val="2F3C7E"/>
                </a:solidFill>
                <a:latin typeface="Calibri" pitchFamily="34" charset="0"/>
                <a:ea typeface="Calibri" pitchFamily="34" charset="-122"/>
                <a:cs typeface="Calibri" pitchFamily="34" charset="-120"/>
              </a:rPr>
              <a:t>Nalli</a:t>
            </a:r>
            <a:endParaRPr lang="en-US" sz="1250" dirty="0"/>
          </a:p>
        </p:txBody>
      </p:sp>
      <p:sp>
        <p:nvSpPr>
          <p:cNvPr id="28" name="Text 25"/>
          <p:cNvSpPr txBox="1"/>
          <p:nvPr/>
        </p:nvSpPr>
        <p:spPr>
          <a:xfrm>
            <a:off x="10213848" y="3950208"/>
            <a:ext cx="169164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4.8%</a:t>
            </a:r>
            <a:endParaRPr lang="en-US" sz="1500" dirty="0"/>
          </a:p>
        </p:txBody>
      </p:sp>
      <p:sp>
        <p:nvSpPr>
          <p:cNvPr id="29" name="Shape 26"/>
          <p:cNvSpPr/>
          <p:nvPr/>
        </p:nvSpPr>
        <p:spPr>
          <a:xfrm>
            <a:off x="7040880" y="4572000"/>
            <a:ext cx="2423160" cy="868680"/>
          </a:xfrm>
          <a:prstGeom prst="roundRect">
            <a:avLst>
              <a:gd name="adj" fmla="val 6316"/>
            </a:avLst>
          </a:prstGeom>
          <a:solidFill>
            <a:srgbClr val="F5F6FA"/>
          </a:solidFill>
          <a:ln/>
        </p:spPr>
      </p:sp>
      <p:sp>
        <p:nvSpPr>
          <p:cNvPr id="30" name="Shape 27"/>
          <p:cNvSpPr/>
          <p:nvPr/>
        </p:nvSpPr>
        <p:spPr>
          <a:xfrm>
            <a:off x="7205472" y="4846320"/>
            <a:ext cx="292608" cy="292608"/>
          </a:xfrm>
          <a:prstGeom prst="ellipse">
            <a:avLst/>
          </a:prstGeom>
          <a:solidFill>
            <a:srgbClr val="D8DAE8"/>
          </a:solidFill>
          <a:ln/>
        </p:spPr>
      </p:sp>
      <p:sp>
        <p:nvSpPr>
          <p:cNvPr id="31" name="Text 28"/>
          <p:cNvSpPr txBox="1"/>
          <p:nvPr/>
        </p:nvSpPr>
        <p:spPr>
          <a:xfrm>
            <a:off x="7607808" y="4645152"/>
            <a:ext cx="1691640" cy="365760"/>
          </a:xfrm>
          <a:prstGeom prst="rect">
            <a:avLst/>
          </a:prstGeom>
          <a:noFill/>
          <a:ln/>
        </p:spPr>
        <p:txBody>
          <a:bodyPr wrap="square" lIns="0" tIns="0" rIns="0" bIns="0" rtlCol="0" anchor="b"/>
          <a:lstStyle/>
          <a:p>
            <a:pPr indent="0" marL="0">
              <a:buNone/>
            </a:pPr>
            <a:r>
              <a:rPr lang="en-US" sz="1250" b="1" dirty="0">
                <a:solidFill>
                  <a:srgbClr val="2F3C7E"/>
                </a:solidFill>
                <a:latin typeface="Calibri" pitchFamily="34" charset="0"/>
                <a:ea typeface="Calibri" pitchFamily="34" charset="-122"/>
                <a:cs typeface="Calibri" pitchFamily="34" charset="-120"/>
              </a:rPr>
              <a:t>Others</a:t>
            </a:r>
            <a:endParaRPr lang="en-US" sz="1250" dirty="0"/>
          </a:p>
        </p:txBody>
      </p:sp>
      <p:sp>
        <p:nvSpPr>
          <p:cNvPr id="32" name="Text 29"/>
          <p:cNvSpPr txBox="1"/>
          <p:nvPr/>
        </p:nvSpPr>
        <p:spPr>
          <a:xfrm>
            <a:off x="7607808" y="4956048"/>
            <a:ext cx="1691640" cy="36576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4.1%</a:t>
            </a:r>
            <a:endParaRPr lang="en-US" sz="1500" dirty="0"/>
          </a:p>
        </p:txBody>
      </p:sp>
      <p:sp>
        <p:nvSpPr>
          <p:cNvPr id="33" name="Text 30"/>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34" name="Text 31"/>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Key Insights</a:t>
            </a:r>
            <a:endParaRPr lang="en-US" sz="3000" dirty="0"/>
          </a:p>
        </p:txBody>
      </p:sp>
      <p:sp>
        <p:nvSpPr>
          <p:cNvPr id="3" name="Shape 1"/>
          <p:cNvSpPr/>
          <p:nvPr/>
        </p:nvSpPr>
        <p:spPr>
          <a:xfrm>
            <a:off x="548640" y="1417320"/>
            <a:ext cx="384048" cy="384048"/>
          </a:xfrm>
          <a:prstGeom prst="ellipse">
            <a:avLst/>
          </a:prstGeom>
          <a:solidFill>
            <a:srgbClr val="F96167"/>
          </a:solidFill>
          <a:ln/>
        </p:spPr>
      </p:sp>
      <p:sp>
        <p:nvSpPr>
          <p:cNvPr id="4" name="Text 2"/>
          <p:cNvSpPr txBox="1"/>
          <p:nvPr/>
        </p:nvSpPr>
        <p:spPr>
          <a:xfrm>
            <a:off x="548640" y="141732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a:t>
            </a:r>
            <a:endParaRPr lang="en-US" sz="900" dirty="0"/>
          </a:p>
        </p:txBody>
      </p:sp>
      <p:sp>
        <p:nvSpPr>
          <p:cNvPr id="5" name="Text 3"/>
          <p:cNvSpPr txBox="1"/>
          <p:nvPr/>
        </p:nvSpPr>
        <p:spPr>
          <a:xfrm>
            <a:off x="1188720" y="1371600"/>
            <a:ext cx="2743200" cy="45720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Seasonality</a:t>
            </a:r>
            <a:endParaRPr lang="en-US" sz="1500" dirty="0"/>
          </a:p>
        </p:txBody>
      </p:sp>
      <p:sp>
        <p:nvSpPr>
          <p:cNvPr id="6" name="Text 4"/>
          <p:cNvSpPr txBox="1"/>
          <p:nvPr/>
        </p:nvSpPr>
        <p:spPr>
          <a:xfrm>
            <a:off x="4114800" y="1344168"/>
            <a:ext cx="7498080" cy="548640"/>
          </a:xfrm>
          <a:prstGeom prst="rect">
            <a:avLst/>
          </a:prstGeom>
          <a:noFill/>
          <a:ln/>
        </p:spPr>
        <p:txBody>
          <a:bodyPr wrap="square" lIns="0" tIns="0" rIns="0" bIns="0" rtlCol="0" anchor="ctr"/>
          <a:lstStyle/>
          <a:p>
            <a:pPr indent="0" marL="0">
              <a:buNone/>
            </a:pPr>
            <a:r>
              <a:rPr lang="en-US" sz="1300" dirty="0">
                <a:solidFill>
                  <a:srgbClr val="5B5F6B"/>
                </a:solidFill>
                <a:latin typeface="Calibri" pitchFamily="34" charset="0"/>
                <a:ea typeface="Calibri" pitchFamily="34" charset="-122"/>
                <a:cs typeface="Calibri" pitchFamily="34" charset="-120"/>
              </a:rPr>
              <a:t>March is the peak month for sales at ₹19.3L; volumes taper off in Q4.</a:t>
            </a:r>
            <a:endParaRPr lang="en-US" sz="1300" dirty="0"/>
          </a:p>
        </p:txBody>
      </p:sp>
      <p:sp>
        <p:nvSpPr>
          <p:cNvPr id="7" name="Shape 5"/>
          <p:cNvSpPr/>
          <p:nvPr/>
        </p:nvSpPr>
        <p:spPr>
          <a:xfrm>
            <a:off x="548640" y="2286000"/>
            <a:ext cx="384048" cy="384048"/>
          </a:xfrm>
          <a:prstGeom prst="ellipse">
            <a:avLst/>
          </a:prstGeom>
          <a:solidFill>
            <a:srgbClr val="F96167"/>
          </a:solidFill>
          <a:ln/>
        </p:spPr>
      </p:sp>
      <p:sp>
        <p:nvSpPr>
          <p:cNvPr id="8" name="Text 6"/>
          <p:cNvSpPr txBox="1"/>
          <p:nvPr/>
        </p:nvSpPr>
        <p:spPr>
          <a:xfrm>
            <a:off x="548640" y="228600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2</a:t>
            </a:r>
            <a:endParaRPr lang="en-US" sz="900" dirty="0"/>
          </a:p>
        </p:txBody>
      </p:sp>
      <p:sp>
        <p:nvSpPr>
          <p:cNvPr id="9" name="Text 7"/>
          <p:cNvSpPr txBox="1"/>
          <p:nvPr/>
        </p:nvSpPr>
        <p:spPr>
          <a:xfrm>
            <a:off x="1188720" y="2240280"/>
            <a:ext cx="2743200" cy="45720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Fulfilment</a:t>
            </a:r>
            <a:endParaRPr lang="en-US" sz="1500" dirty="0"/>
          </a:p>
        </p:txBody>
      </p:sp>
      <p:sp>
        <p:nvSpPr>
          <p:cNvPr id="10" name="Text 8"/>
          <p:cNvSpPr txBox="1"/>
          <p:nvPr/>
        </p:nvSpPr>
        <p:spPr>
          <a:xfrm>
            <a:off x="4114800" y="2212848"/>
            <a:ext cx="7498080" cy="548640"/>
          </a:xfrm>
          <a:prstGeom prst="rect">
            <a:avLst/>
          </a:prstGeom>
          <a:noFill/>
          <a:ln/>
        </p:spPr>
        <p:txBody>
          <a:bodyPr wrap="square" lIns="0" tIns="0" rIns="0" bIns="0" rtlCol="0" anchor="ctr"/>
          <a:lstStyle/>
          <a:p>
            <a:pPr indent="0" marL="0">
              <a:buNone/>
            </a:pPr>
            <a:r>
              <a:rPr lang="en-US" sz="1300" dirty="0">
                <a:solidFill>
                  <a:srgbClr val="5B5F6B"/>
                </a:solidFill>
                <a:latin typeface="Calibri" pitchFamily="34" charset="0"/>
                <a:ea typeface="Calibri" pitchFamily="34" charset="-122"/>
                <a:cs typeface="Calibri" pitchFamily="34" charset="-120"/>
              </a:rPr>
              <a:t>92% of orders are delivered; cancellations and returns together stay under 8%.</a:t>
            </a:r>
            <a:endParaRPr lang="en-US" sz="1300" dirty="0"/>
          </a:p>
        </p:txBody>
      </p:sp>
      <p:sp>
        <p:nvSpPr>
          <p:cNvPr id="11" name="Shape 9"/>
          <p:cNvSpPr/>
          <p:nvPr/>
        </p:nvSpPr>
        <p:spPr>
          <a:xfrm>
            <a:off x="548640" y="3154680"/>
            <a:ext cx="384048" cy="384048"/>
          </a:xfrm>
          <a:prstGeom prst="ellipse">
            <a:avLst/>
          </a:prstGeom>
          <a:solidFill>
            <a:srgbClr val="F96167"/>
          </a:solidFill>
          <a:ln/>
        </p:spPr>
      </p:sp>
      <p:sp>
        <p:nvSpPr>
          <p:cNvPr id="12" name="Text 10"/>
          <p:cNvSpPr txBox="1"/>
          <p:nvPr/>
        </p:nvSpPr>
        <p:spPr>
          <a:xfrm>
            <a:off x="548640" y="315468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3</a:t>
            </a:r>
            <a:endParaRPr lang="en-US" sz="900" dirty="0"/>
          </a:p>
        </p:txBody>
      </p:sp>
      <p:sp>
        <p:nvSpPr>
          <p:cNvPr id="13" name="Text 11"/>
          <p:cNvSpPr txBox="1"/>
          <p:nvPr/>
        </p:nvSpPr>
        <p:spPr>
          <a:xfrm>
            <a:off x="1188720" y="3108960"/>
            <a:ext cx="2743200" cy="45720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Geography</a:t>
            </a:r>
            <a:endParaRPr lang="en-US" sz="1500" dirty="0"/>
          </a:p>
        </p:txBody>
      </p:sp>
      <p:sp>
        <p:nvSpPr>
          <p:cNvPr id="14" name="Text 12"/>
          <p:cNvSpPr txBox="1"/>
          <p:nvPr/>
        </p:nvSpPr>
        <p:spPr>
          <a:xfrm>
            <a:off x="4114800" y="3081528"/>
            <a:ext cx="7498080" cy="548640"/>
          </a:xfrm>
          <a:prstGeom prst="rect">
            <a:avLst/>
          </a:prstGeom>
          <a:noFill/>
          <a:ln/>
        </p:spPr>
        <p:txBody>
          <a:bodyPr wrap="square" lIns="0" tIns="0" rIns="0" bIns="0" rtlCol="0" anchor="ctr"/>
          <a:lstStyle/>
          <a:p>
            <a:pPr indent="0" marL="0">
              <a:buNone/>
            </a:pPr>
            <a:r>
              <a:rPr lang="en-US" sz="1300" dirty="0">
                <a:solidFill>
                  <a:srgbClr val="5B5F6B"/>
                </a:solidFill>
                <a:latin typeface="Calibri" pitchFamily="34" charset="0"/>
                <a:ea typeface="Calibri" pitchFamily="34" charset="-122"/>
                <a:cs typeface="Calibri" pitchFamily="34" charset="-120"/>
              </a:rPr>
              <a:t>Maharashtra, Karnataka and Uttar Pradesh are the top 3 revenue states.</a:t>
            </a:r>
            <a:endParaRPr lang="en-US" sz="1300" dirty="0"/>
          </a:p>
        </p:txBody>
      </p:sp>
      <p:sp>
        <p:nvSpPr>
          <p:cNvPr id="15" name="Shape 13"/>
          <p:cNvSpPr/>
          <p:nvPr/>
        </p:nvSpPr>
        <p:spPr>
          <a:xfrm>
            <a:off x="548640" y="4023360"/>
            <a:ext cx="384048" cy="384048"/>
          </a:xfrm>
          <a:prstGeom prst="ellipse">
            <a:avLst/>
          </a:prstGeom>
          <a:solidFill>
            <a:srgbClr val="F96167"/>
          </a:solidFill>
          <a:ln/>
        </p:spPr>
      </p:sp>
      <p:sp>
        <p:nvSpPr>
          <p:cNvPr id="16" name="Text 14"/>
          <p:cNvSpPr txBox="1"/>
          <p:nvPr/>
        </p:nvSpPr>
        <p:spPr>
          <a:xfrm>
            <a:off x="548640" y="402336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4</a:t>
            </a:r>
            <a:endParaRPr lang="en-US" sz="900" dirty="0"/>
          </a:p>
        </p:txBody>
      </p:sp>
      <p:sp>
        <p:nvSpPr>
          <p:cNvPr id="17" name="Text 15"/>
          <p:cNvSpPr txBox="1"/>
          <p:nvPr/>
        </p:nvSpPr>
        <p:spPr>
          <a:xfrm>
            <a:off x="1188720" y="3977640"/>
            <a:ext cx="2743200" cy="45720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Customer Mix</a:t>
            </a:r>
            <a:endParaRPr lang="en-US" sz="1500" dirty="0"/>
          </a:p>
        </p:txBody>
      </p:sp>
      <p:sp>
        <p:nvSpPr>
          <p:cNvPr id="18" name="Text 16"/>
          <p:cNvSpPr txBox="1"/>
          <p:nvPr/>
        </p:nvSpPr>
        <p:spPr>
          <a:xfrm>
            <a:off x="4114800" y="3950208"/>
            <a:ext cx="7498080" cy="548640"/>
          </a:xfrm>
          <a:prstGeom prst="rect">
            <a:avLst/>
          </a:prstGeom>
          <a:noFill/>
          <a:ln/>
        </p:spPr>
        <p:txBody>
          <a:bodyPr wrap="square" lIns="0" tIns="0" rIns="0" bIns="0" rtlCol="0" anchor="ctr"/>
          <a:lstStyle/>
          <a:p>
            <a:pPr indent="0" marL="0">
              <a:buNone/>
            </a:pPr>
            <a:r>
              <a:rPr lang="en-US" sz="1300" dirty="0">
                <a:solidFill>
                  <a:srgbClr val="5B5F6B"/>
                </a:solidFill>
                <a:latin typeface="Calibri" pitchFamily="34" charset="0"/>
                <a:ea typeface="Calibri" pitchFamily="34" charset="-122"/>
                <a:cs typeface="Calibri" pitchFamily="34" charset="-120"/>
              </a:rPr>
              <a:t>Women generate 64% of revenue, led by the 19–50 adult age group at 54%.</a:t>
            </a:r>
            <a:endParaRPr lang="en-US" sz="1300" dirty="0"/>
          </a:p>
        </p:txBody>
      </p:sp>
      <p:sp>
        <p:nvSpPr>
          <p:cNvPr id="19" name="Shape 17"/>
          <p:cNvSpPr/>
          <p:nvPr/>
        </p:nvSpPr>
        <p:spPr>
          <a:xfrm>
            <a:off x="548640" y="4892040"/>
            <a:ext cx="384048" cy="384048"/>
          </a:xfrm>
          <a:prstGeom prst="ellipse">
            <a:avLst/>
          </a:prstGeom>
          <a:solidFill>
            <a:srgbClr val="F96167"/>
          </a:solidFill>
          <a:ln/>
        </p:spPr>
      </p:sp>
      <p:sp>
        <p:nvSpPr>
          <p:cNvPr id="20" name="Text 18"/>
          <p:cNvSpPr txBox="1"/>
          <p:nvPr/>
        </p:nvSpPr>
        <p:spPr>
          <a:xfrm>
            <a:off x="548640" y="489204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5</a:t>
            </a:r>
            <a:endParaRPr lang="en-US" sz="900" dirty="0"/>
          </a:p>
        </p:txBody>
      </p:sp>
      <p:sp>
        <p:nvSpPr>
          <p:cNvPr id="21" name="Text 19"/>
          <p:cNvSpPr txBox="1"/>
          <p:nvPr/>
        </p:nvSpPr>
        <p:spPr>
          <a:xfrm>
            <a:off x="1188720" y="4846320"/>
            <a:ext cx="2743200" cy="457200"/>
          </a:xfrm>
          <a:prstGeom prst="rect">
            <a:avLst/>
          </a:prstGeom>
          <a:noFill/>
          <a:ln/>
        </p:spPr>
        <p:txBody>
          <a:bodyPr wrap="square" lIns="0" tIns="0" rIns="0" bIns="0" rtlCol="0" anchor="ctr"/>
          <a:lstStyle/>
          <a:p>
            <a:pPr indent="0" marL="0">
              <a:buNone/>
            </a:pPr>
            <a:r>
              <a:rPr lang="en-US" sz="1500" b="1" dirty="0">
                <a:solidFill>
                  <a:srgbClr val="2F3C7E"/>
                </a:solidFill>
                <a:latin typeface="Cambria" pitchFamily="34" charset="0"/>
                <a:ea typeface="Cambria" pitchFamily="34" charset="-122"/>
                <a:cs typeface="Cambria" pitchFamily="34" charset="-120"/>
              </a:rPr>
              <a:t>Channel</a:t>
            </a:r>
            <a:endParaRPr lang="en-US" sz="1500" dirty="0"/>
          </a:p>
        </p:txBody>
      </p:sp>
      <p:sp>
        <p:nvSpPr>
          <p:cNvPr id="22" name="Text 20"/>
          <p:cNvSpPr txBox="1"/>
          <p:nvPr/>
        </p:nvSpPr>
        <p:spPr>
          <a:xfrm>
            <a:off x="4114800" y="4818888"/>
            <a:ext cx="7498080" cy="548640"/>
          </a:xfrm>
          <a:prstGeom prst="rect">
            <a:avLst/>
          </a:prstGeom>
          <a:noFill/>
          <a:ln/>
        </p:spPr>
        <p:txBody>
          <a:bodyPr wrap="square" lIns="0" tIns="0" rIns="0" bIns="0" rtlCol="0" anchor="ctr"/>
          <a:lstStyle/>
          <a:p>
            <a:pPr indent="0" marL="0">
              <a:buNone/>
            </a:pPr>
            <a:r>
              <a:rPr lang="en-US" sz="1300" dirty="0">
                <a:solidFill>
                  <a:srgbClr val="5B5F6B"/>
                </a:solidFill>
                <a:latin typeface="Calibri" pitchFamily="34" charset="0"/>
                <a:ea typeface="Calibri" pitchFamily="34" charset="-122"/>
                <a:cs typeface="Calibri" pitchFamily="34" charset="-120"/>
              </a:rPr>
              <a:t>Amazon leads with 35% of orders, followed by Myntra (23%) and Flipkart (22%).</a:t>
            </a:r>
            <a:endParaRPr lang="en-US" sz="1300" dirty="0"/>
          </a:p>
        </p:txBody>
      </p:sp>
      <p:sp>
        <p:nvSpPr>
          <p:cNvPr id="23" name="Text 2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9AA0B4"/>
                </a:solidFill>
                <a:latin typeface="Calibri" pitchFamily="34" charset="0"/>
                <a:ea typeface="Calibri" pitchFamily="34" charset="-122"/>
                <a:cs typeface="Calibri" pitchFamily="34" charset="-120"/>
              </a:rPr>
              <a:t>Vrinda Store  |  2022 Sales Analysis</a:t>
            </a:r>
            <a:endParaRPr lang="en-US" sz="900" dirty="0"/>
          </a:p>
        </p:txBody>
      </p:sp>
      <p:sp>
        <p:nvSpPr>
          <p:cNvPr id="24" name="Text 22"/>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9AA0B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9875520" y="4206240"/>
            <a:ext cx="4114800" cy="4114800"/>
          </a:xfrm>
          <a:prstGeom prst="ellipse">
            <a:avLst/>
          </a:prstGeom>
          <a:solidFill>
            <a:srgbClr val="27336B"/>
          </a:solidFill>
          <a:ln/>
        </p:spPr>
      </p:sp>
      <p:sp>
        <p:nvSpPr>
          <p:cNvPr id="3" name="Text 1"/>
          <p:cNvSpPr txBox="1"/>
          <p:nvPr/>
        </p:nvSpPr>
        <p:spPr>
          <a:xfrm>
            <a:off x="548640" y="365760"/>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Recommendation</a:t>
            </a:r>
            <a:endParaRPr lang="en-US" sz="3000" dirty="0"/>
          </a:p>
        </p:txBody>
      </p:sp>
      <p:sp>
        <p:nvSpPr>
          <p:cNvPr id="4" name="Text 2"/>
          <p:cNvSpPr txBox="1"/>
          <p:nvPr/>
        </p:nvSpPr>
        <p:spPr>
          <a:xfrm>
            <a:off x="548640" y="1371600"/>
            <a:ext cx="10607040" cy="1188720"/>
          </a:xfrm>
          <a:prstGeom prst="rect">
            <a:avLst/>
          </a:prstGeom>
          <a:noFill/>
          <a:ln/>
        </p:spPr>
        <p:txBody>
          <a:bodyPr wrap="square" lIns="0" tIns="0" rIns="0" bIns="0" rtlCol="0" anchor="t"/>
          <a:lstStyle/>
          <a:p>
            <a:pPr indent="0" marL="0">
              <a:lnSpc>
                <a:spcPct val="130000"/>
              </a:lnSpc>
              <a:buNone/>
            </a:pPr>
            <a:r>
              <a:rPr lang="en-US" sz="1600" dirty="0">
                <a:solidFill>
                  <a:srgbClr val="DCE0F5"/>
                </a:solidFill>
                <a:latin typeface="Calibri" pitchFamily="34" charset="0"/>
                <a:ea typeface="Calibri" pitchFamily="34" charset="-122"/>
                <a:cs typeface="Calibri" pitchFamily="34" charset="-120"/>
              </a:rPr>
              <a:t>Target women aged 19–50 in Maharashtra, Karnataka and Uttar Pradesh — the highest-value segment — with focused ads, promotions and redeemable coupons to grow revenue in this core group.</a:t>
            </a:r>
            <a:endParaRPr lang="en-US" sz="1600" dirty="0"/>
          </a:p>
        </p:txBody>
      </p:sp>
      <p:sp>
        <p:nvSpPr>
          <p:cNvPr id="5" name="Shape 3"/>
          <p:cNvSpPr/>
          <p:nvPr/>
        </p:nvSpPr>
        <p:spPr>
          <a:xfrm>
            <a:off x="548640" y="2880360"/>
            <a:ext cx="2697480" cy="2651760"/>
          </a:xfrm>
          <a:prstGeom prst="roundRect">
            <a:avLst>
              <a:gd name="adj" fmla="val 3448"/>
            </a:avLst>
          </a:prstGeom>
          <a:solidFill>
            <a:srgbClr val="27336B"/>
          </a:solidFill>
          <a:ln/>
        </p:spPr>
      </p:sp>
      <p:sp>
        <p:nvSpPr>
          <p:cNvPr id="6" name="Shape 4"/>
          <p:cNvSpPr/>
          <p:nvPr/>
        </p:nvSpPr>
        <p:spPr>
          <a:xfrm>
            <a:off x="804672" y="3200400"/>
            <a:ext cx="457200" cy="54864"/>
          </a:xfrm>
          <a:prstGeom prst="rect">
            <a:avLst/>
          </a:prstGeom>
          <a:solidFill>
            <a:srgbClr val="F96167"/>
          </a:solidFill>
          <a:ln/>
        </p:spPr>
      </p:sp>
      <p:sp>
        <p:nvSpPr>
          <p:cNvPr id="7" name="Text 5"/>
          <p:cNvSpPr txBox="1"/>
          <p:nvPr/>
        </p:nvSpPr>
        <p:spPr>
          <a:xfrm>
            <a:off x="804672" y="3383280"/>
            <a:ext cx="2185416" cy="640080"/>
          </a:xfrm>
          <a:prstGeom prst="rect">
            <a:avLst/>
          </a:prstGeom>
          <a:noFill/>
          <a:ln/>
        </p:spPr>
        <p:txBody>
          <a:bodyPr wrap="square" lIns="0" tIns="0" rIns="0" bIns="0" rtlCol="0" anchor="ctr"/>
          <a:lstStyle/>
          <a:p>
            <a:pPr indent="0" marL="0">
              <a:buNone/>
            </a:pPr>
            <a:r>
              <a:rPr lang="en-US" sz="1400" b="1" dirty="0">
                <a:solidFill>
                  <a:srgbClr val="F9E795"/>
                </a:solidFill>
                <a:latin typeface="Cambria" pitchFamily="34" charset="0"/>
                <a:ea typeface="Cambria" pitchFamily="34" charset="-122"/>
                <a:cs typeface="Cambria" pitchFamily="34" charset="-120"/>
              </a:rPr>
              <a:t>Focus Segment</a:t>
            </a:r>
            <a:endParaRPr lang="en-US" sz="1400" dirty="0"/>
          </a:p>
        </p:txBody>
      </p:sp>
      <p:sp>
        <p:nvSpPr>
          <p:cNvPr id="8" name="Text 6"/>
          <p:cNvSpPr txBox="1"/>
          <p:nvPr/>
        </p:nvSpPr>
        <p:spPr>
          <a:xfrm>
            <a:off x="804672" y="4023360"/>
            <a:ext cx="2185416" cy="1280160"/>
          </a:xfrm>
          <a:prstGeom prst="rect">
            <a:avLst/>
          </a:prstGeom>
          <a:noFill/>
          <a:ln/>
        </p:spPr>
        <p:txBody>
          <a:bodyPr wrap="square" lIns="0" tIns="0" rIns="0" bIns="0"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Women, 19–50 years old</a:t>
            </a:r>
            <a:endParaRPr lang="en-US" sz="1400" dirty="0"/>
          </a:p>
        </p:txBody>
      </p:sp>
      <p:sp>
        <p:nvSpPr>
          <p:cNvPr id="9" name="Shape 7"/>
          <p:cNvSpPr/>
          <p:nvPr/>
        </p:nvSpPr>
        <p:spPr>
          <a:xfrm>
            <a:off x="3383280" y="2880360"/>
            <a:ext cx="2697480" cy="2651760"/>
          </a:xfrm>
          <a:prstGeom prst="roundRect">
            <a:avLst>
              <a:gd name="adj" fmla="val 3448"/>
            </a:avLst>
          </a:prstGeom>
          <a:solidFill>
            <a:srgbClr val="27336B"/>
          </a:solidFill>
          <a:ln/>
        </p:spPr>
      </p:sp>
      <p:sp>
        <p:nvSpPr>
          <p:cNvPr id="10" name="Shape 8"/>
          <p:cNvSpPr/>
          <p:nvPr/>
        </p:nvSpPr>
        <p:spPr>
          <a:xfrm>
            <a:off x="3639312" y="3200400"/>
            <a:ext cx="457200" cy="54864"/>
          </a:xfrm>
          <a:prstGeom prst="rect">
            <a:avLst/>
          </a:prstGeom>
          <a:solidFill>
            <a:srgbClr val="F96167"/>
          </a:solidFill>
          <a:ln/>
        </p:spPr>
      </p:sp>
      <p:sp>
        <p:nvSpPr>
          <p:cNvPr id="11" name="Text 9"/>
          <p:cNvSpPr txBox="1"/>
          <p:nvPr/>
        </p:nvSpPr>
        <p:spPr>
          <a:xfrm>
            <a:off x="3639312" y="3383280"/>
            <a:ext cx="2185416" cy="640080"/>
          </a:xfrm>
          <a:prstGeom prst="rect">
            <a:avLst/>
          </a:prstGeom>
          <a:noFill/>
          <a:ln/>
        </p:spPr>
        <p:txBody>
          <a:bodyPr wrap="square" lIns="0" tIns="0" rIns="0" bIns="0" rtlCol="0" anchor="ctr"/>
          <a:lstStyle/>
          <a:p>
            <a:pPr indent="0" marL="0">
              <a:buNone/>
            </a:pPr>
            <a:r>
              <a:rPr lang="en-US" sz="1400" b="1" dirty="0">
                <a:solidFill>
                  <a:srgbClr val="F9E795"/>
                </a:solidFill>
                <a:latin typeface="Cambria" pitchFamily="34" charset="0"/>
                <a:ea typeface="Cambria" pitchFamily="34" charset="-122"/>
                <a:cs typeface="Cambria" pitchFamily="34" charset="-120"/>
              </a:rPr>
              <a:t>Priority States</a:t>
            </a:r>
            <a:endParaRPr lang="en-US" sz="1400" dirty="0"/>
          </a:p>
        </p:txBody>
      </p:sp>
      <p:sp>
        <p:nvSpPr>
          <p:cNvPr id="12" name="Text 10"/>
          <p:cNvSpPr txBox="1"/>
          <p:nvPr/>
        </p:nvSpPr>
        <p:spPr>
          <a:xfrm>
            <a:off x="3639312" y="4023360"/>
            <a:ext cx="2185416" cy="1280160"/>
          </a:xfrm>
          <a:prstGeom prst="rect">
            <a:avLst/>
          </a:prstGeom>
          <a:noFill/>
          <a:ln/>
        </p:spPr>
        <p:txBody>
          <a:bodyPr wrap="square" lIns="0" tIns="0" rIns="0" bIns="0"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Maharashtra · Karnataka · UP</a:t>
            </a:r>
            <a:endParaRPr lang="en-US" sz="1400" dirty="0"/>
          </a:p>
        </p:txBody>
      </p:sp>
      <p:sp>
        <p:nvSpPr>
          <p:cNvPr id="13" name="Shape 11"/>
          <p:cNvSpPr/>
          <p:nvPr/>
        </p:nvSpPr>
        <p:spPr>
          <a:xfrm>
            <a:off x="6217920" y="2880360"/>
            <a:ext cx="2697480" cy="2651760"/>
          </a:xfrm>
          <a:prstGeom prst="roundRect">
            <a:avLst>
              <a:gd name="adj" fmla="val 3448"/>
            </a:avLst>
          </a:prstGeom>
          <a:solidFill>
            <a:srgbClr val="27336B"/>
          </a:solidFill>
          <a:ln/>
        </p:spPr>
      </p:sp>
      <p:sp>
        <p:nvSpPr>
          <p:cNvPr id="14" name="Shape 12"/>
          <p:cNvSpPr/>
          <p:nvPr/>
        </p:nvSpPr>
        <p:spPr>
          <a:xfrm>
            <a:off x="6473952" y="3200400"/>
            <a:ext cx="457200" cy="54864"/>
          </a:xfrm>
          <a:prstGeom prst="rect">
            <a:avLst/>
          </a:prstGeom>
          <a:solidFill>
            <a:srgbClr val="F96167"/>
          </a:solidFill>
          <a:ln/>
        </p:spPr>
      </p:sp>
      <p:sp>
        <p:nvSpPr>
          <p:cNvPr id="15" name="Text 13"/>
          <p:cNvSpPr txBox="1"/>
          <p:nvPr/>
        </p:nvSpPr>
        <p:spPr>
          <a:xfrm>
            <a:off x="6473952" y="3383280"/>
            <a:ext cx="2185416" cy="640080"/>
          </a:xfrm>
          <a:prstGeom prst="rect">
            <a:avLst/>
          </a:prstGeom>
          <a:noFill/>
          <a:ln/>
        </p:spPr>
        <p:txBody>
          <a:bodyPr wrap="square" lIns="0" tIns="0" rIns="0" bIns="0" rtlCol="0" anchor="ctr"/>
          <a:lstStyle/>
          <a:p>
            <a:pPr indent="0" marL="0">
              <a:buNone/>
            </a:pPr>
            <a:r>
              <a:rPr lang="en-US" sz="1400" b="1" dirty="0">
                <a:solidFill>
                  <a:srgbClr val="F9E795"/>
                </a:solidFill>
                <a:latin typeface="Cambria" pitchFamily="34" charset="0"/>
                <a:ea typeface="Cambria" pitchFamily="34" charset="-122"/>
                <a:cs typeface="Cambria" pitchFamily="34" charset="-120"/>
              </a:rPr>
              <a:t>Lead Channel</a:t>
            </a:r>
            <a:endParaRPr lang="en-US" sz="1400" dirty="0"/>
          </a:p>
        </p:txBody>
      </p:sp>
      <p:sp>
        <p:nvSpPr>
          <p:cNvPr id="16" name="Text 14"/>
          <p:cNvSpPr txBox="1"/>
          <p:nvPr/>
        </p:nvSpPr>
        <p:spPr>
          <a:xfrm>
            <a:off x="6473952" y="4023360"/>
            <a:ext cx="2185416" cy="1280160"/>
          </a:xfrm>
          <a:prstGeom prst="rect">
            <a:avLst/>
          </a:prstGeom>
          <a:noFill/>
          <a:ln/>
        </p:spPr>
        <p:txBody>
          <a:bodyPr wrap="square" lIns="0" tIns="0" rIns="0" bIns="0"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Amazon, then Myntra</a:t>
            </a:r>
            <a:endParaRPr lang="en-US" sz="1400" dirty="0"/>
          </a:p>
        </p:txBody>
      </p:sp>
      <p:sp>
        <p:nvSpPr>
          <p:cNvPr id="17" name="Shape 15"/>
          <p:cNvSpPr/>
          <p:nvPr/>
        </p:nvSpPr>
        <p:spPr>
          <a:xfrm>
            <a:off x="9052560" y="2880360"/>
            <a:ext cx="2697480" cy="2651760"/>
          </a:xfrm>
          <a:prstGeom prst="roundRect">
            <a:avLst>
              <a:gd name="adj" fmla="val 3448"/>
            </a:avLst>
          </a:prstGeom>
          <a:solidFill>
            <a:srgbClr val="27336B"/>
          </a:solidFill>
          <a:ln/>
        </p:spPr>
      </p:sp>
      <p:sp>
        <p:nvSpPr>
          <p:cNvPr id="18" name="Shape 16"/>
          <p:cNvSpPr/>
          <p:nvPr/>
        </p:nvSpPr>
        <p:spPr>
          <a:xfrm>
            <a:off x="9308592" y="3200400"/>
            <a:ext cx="457200" cy="54864"/>
          </a:xfrm>
          <a:prstGeom prst="rect">
            <a:avLst/>
          </a:prstGeom>
          <a:solidFill>
            <a:srgbClr val="F96167"/>
          </a:solidFill>
          <a:ln/>
        </p:spPr>
      </p:sp>
      <p:sp>
        <p:nvSpPr>
          <p:cNvPr id="19" name="Text 17"/>
          <p:cNvSpPr txBox="1"/>
          <p:nvPr/>
        </p:nvSpPr>
        <p:spPr>
          <a:xfrm>
            <a:off x="9308592" y="3383280"/>
            <a:ext cx="2185416" cy="640080"/>
          </a:xfrm>
          <a:prstGeom prst="rect">
            <a:avLst/>
          </a:prstGeom>
          <a:noFill/>
          <a:ln/>
        </p:spPr>
        <p:txBody>
          <a:bodyPr wrap="square" lIns="0" tIns="0" rIns="0" bIns="0" rtlCol="0" anchor="ctr"/>
          <a:lstStyle/>
          <a:p>
            <a:pPr indent="0" marL="0">
              <a:buNone/>
            </a:pPr>
            <a:r>
              <a:rPr lang="en-US" sz="1400" b="1" dirty="0">
                <a:solidFill>
                  <a:srgbClr val="F9E795"/>
                </a:solidFill>
                <a:latin typeface="Cambria" pitchFamily="34" charset="0"/>
                <a:ea typeface="Cambria" pitchFamily="34" charset="-122"/>
                <a:cs typeface="Cambria" pitchFamily="34" charset="-120"/>
              </a:rPr>
              <a:t>Action</a:t>
            </a:r>
            <a:endParaRPr lang="en-US" sz="1400" dirty="0"/>
          </a:p>
        </p:txBody>
      </p:sp>
      <p:sp>
        <p:nvSpPr>
          <p:cNvPr id="20" name="Text 18"/>
          <p:cNvSpPr txBox="1"/>
          <p:nvPr/>
        </p:nvSpPr>
        <p:spPr>
          <a:xfrm>
            <a:off x="9308592" y="4023360"/>
            <a:ext cx="2185416" cy="1280160"/>
          </a:xfrm>
          <a:prstGeom prst="rect">
            <a:avLst/>
          </a:prstGeom>
          <a:noFill/>
          <a:ln/>
        </p:spPr>
        <p:txBody>
          <a:bodyPr wrap="square" lIns="0" tIns="0" rIns="0" bIns="0"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Ads, offers &amp; coupons</a:t>
            </a:r>
            <a:endParaRPr lang="en-US" sz="1400" dirty="0"/>
          </a:p>
        </p:txBody>
      </p:sp>
      <p:sp>
        <p:nvSpPr>
          <p:cNvPr id="21" name="Text 19"/>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i="1" dirty="0">
                <a:solidFill>
                  <a:srgbClr val="C7CBE0"/>
                </a:solidFill>
                <a:latin typeface="Calibri" pitchFamily="34" charset="0"/>
                <a:ea typeface="Calibri" pitchFamily="34" charset="-122"/>
                <a:cs typeface="Calibri" pitchFamily="34" charset="-120"/>
              </a:rPr>
              <a:t>Vrinda Store  |  2022 Sales Analysis</a:t>
            </a:r>
            <a:endParaRPr lang="en-US" sz="900" dirty="0"/>
          </a:p>
        </p:txBody>
      </p:sp>
      <p:sp>
        <p:nvSpPr>
          <p:cNvPr id="22" name="Text 20"/>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dirty="0">
                <a:solidFill>
                  <a:srgbClr val="C7CBE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2026-09-27T17:44:49Z</dcterms:created>
  <dcterms:modified xsi:type="dcterms:W3CDTF">2026-09-27T17:44:49Z</dcterms:modified>
</cp:coreProperties>
</file>