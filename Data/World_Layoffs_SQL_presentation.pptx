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752" y="1097280"/>
            <a:ext cx="4092946" cy="4623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6012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EF2F8"/>
                </a:solidFill>
                <a:latin typeface="Aptos"/>
              </a:rPr>
              <a:t>WORLD LAYOFFS
ANALYSIS USING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4AEC0"/>
                </a:solidFill>
                <a:latin typeface="Aptos"/>
              </a:rPr>
              <a:t>End-to-End Data Cleaning &amp; 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49BFF"/>
                </a:solidFill>
                <a:latin typeface="Aptos"/>
              </a:rPr>
              <a:t>Turning raw workforce data into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97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EF2F8"/>
                </a:solidFill>
                <a:latin typeface="Aptos"/>
              </a:rPr>
              <a:t>Prepared by Kunal Kashyap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Why Analyze Layoffs?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89611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EC0"/>
                </a:solidFill>
                <a:latin typeface="Aptos"/>
              </a:rPr>
              <a:t>A business-focused view of workforce reductions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486400" cy="438912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1399032"/>
            <a:ext cx="5340096" cy="42428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325880"/>
            <a:ext cx="5074920" cy="438912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EF2F8"/>
                </a:solidFill>
                <a:latin typeface="Aptos"/>
              </a:rPr>
              <a:t>What this project explores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40280"/>
            <a:ext cx="4251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Which companies recorded the largest layoffs?</a:t>
            </a:r>
          </a:p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Which countries and industries were most affected?</a:t>
            </a:r>
          </a:p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How did company stage and funding relate to layoffs?</a:t>
            </a:r>
          </a:p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How can SQL window functions reveal deeper patterns?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89204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AEC0"/>
                </a:solidFill>
                <a:latin typeface="Aptos"/>
              </a:rPr>
              <a:t>The goal is not only to query the data — it is to turn query results into clear business conclusions.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0" cy="448056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Clean raw layoff data and generate business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TOOLS &amp;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EF2F8"/>
                </a:solidFill>
                <a:latin typeface="Aptos"/>
              </a:defRPr>
            </a:pPr>
            <a:r>
              <a:t>• MySQL Workbench</a:t>
            </a:r>
          </a:p>
          <a:p>
            <a:pPr>
              <a:spcAft>
                <a:spcPts val="700"/>
              </a:spcAft>
              <a:defRPr sz="1600">
                <a:solidFill>
                  <a:srgbClr val="EEF2F8"/>
                </a:solidFill>
                <a:latin typeface="Aptos"/>
              </a:defRPr>
            </a:pPr>
            <a:r>
              <a:t>• Data Cleaning</a:t>
            </a:r>
          </a:p>
          <a:p>
            <a:pPr>
              <a:spcAft>
                <a:spcPts val="700"/>
              </a:spcAft>
              <a:defRPr sz="1600">
                <a:solidFill>
                  <a:srgbClr val="EEF2F8"/>
                </a:solidFill>
                <a:latin typeface="Aptos"/>
              </a:defRPr>
            </a:pPr>
            <a:r>
              <a:t>• Exploratory Data Analysis</a:t>
            </a:r>
          </a:p>
          <a:p>
            <a:pPr>
              <a:spcAft>
                <a:spcPts val="700"/>
              </a:spcAft>
              <a:defRPr sz="1600">
                <a:solidFill>
                  <a:srgbClr val="EEF2F8"/>
                </a:solidFill>
                <a:latin typeface="Aptos"/>
              </a:defRPr>
            </a:pPr>
            <a:r>
              <a:t>• Window Functions</a:t>
            </a:r>
          </a:p>
          <a:p>
            <a:pPr>
              <a:spcAft>
                <a:spcPts val="700"/>
              </a:spcAft>
              <a:defRPr sz="1600">
                <a:solidFill>
                  <a:srgbClr val="EEF2F8"/>
                </a:solidFill>
                <a:latin typeface="Aptos"/>
              </a:defRPr>
            </a:pPr>
            <a:r>
              <a:t>•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880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SOURCE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4612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EF2F8"/>
                </a:solidFill>
                <a:latin typeface="Aptos"/>
              </a:rPr>
              <a:t>Raw Dataset → Working Copy → Remove Duplicates → Standardize Data → Handle NULLs → EDA → Business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Data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89611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EC0"/>
                </a:solidFill>
                <a:latin typeface="Aptos"/>
              </a:rPr>
              <a:t>Prepare the dataset before asking business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448056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1353312"/>
            <a:ext cx="5157216" cy="43342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280160"/>
            <a:ext cx="5303520" cy="448056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EF2F8"/>
                </a:solidFill>
                <a:latin typeface="Aptos"/>
              </a:rPr>
              <a:t>Cleaning steps used in the SQL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Remove duplicate records using ROW_NUMBER()</a:t>
            </a:r>
          </a:p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Standardize company, industry, date and country values</a:t>
            </a:r>
          </a:p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Check and handle NULL / blank values</a:t>
            </a:r>
          </a:p>
          <a:p>
            <a:pPr>
              <a:spcAft>
                <a:spcPts val="700"/>
              </a:spcAft>
              <a:defRPr sz="1500">
                <a:solidFill>
                  <a:srgbClr val="EEF2F8"/>
                </a:solidFill>
                <a:latin typeface="Aptos"/>
              </a:defRPr>
            </a:pPr>
            <a:r>
              <a:t>• Remove unnecessary rows and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0749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AEC0"/>
                </a:solidFill>
                <a:latin typeface="Aptos"/>
              </a:rPr>
              <a:t>The SQL file explicitly defines these four cleaning tasks before EDA.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89611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EC0"/>
                </a:solidFill>
                <a:latin typeface="Aptos"/>
              </a:rPr>
              <a:t>Start with the raw records and understand the available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What does the layoff dataset contain before deeper analysis?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440680" cy="224028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53288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34640"/>
            <a:ext cx="503834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F2F8"/>
                </a:solidFill>
                <a:latin typeface="Consolas"/>
              </a:rPr>
              <a:t>SELECT *
FROM layoffs;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5166360" cy="347472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The dataset includes company, industry, country, stage, funding and layoff details.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6CF451-081C-8B28-AC93-F8426FFA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1625292"/>
            <a:ext cx="4910327" cy="2919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EEF2F8"/>
                </a:solidFill>
                <a:latin typeface="Aptos"/>
              </a:rPr>
              <a:t>Company-wise Layoffs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Which companies recorded the highest total layoffs?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EF2F8"/>
                </a:solidFill>
                <a:latin typeface="Consolas"/>
              </a:rPr>
              <a:t>SELECT company,
       SUM(total_laid_off) AS total_layoffs
FROM layoffs2
GROUP BY company
ORDER BY SUM(total_laid_off) DESC
LIMIT 5;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5020056" cy="33741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Amazon ranked #1 with 18,150 layoffs, followed by Google, Meta, Microsoft and Salesforce.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0E9C-6507-86AC-D9EB-CDAC86E5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76600E-8AF8-DC6C-ABCF-9CDE5F603EE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81D19-8ADA-D9CC-7B59-BB4A53BD71B9}"/>
              </a:ext>
            </a:extLst>
          </p:cNvPr>
          <p:cNvSpPr txBox="1"/>
          <p:nvPr/>
        </p:nvSpPr>
        <p:spPr>
          <a:xfrm>
            <a:off x="502920" y="320040"/>
            <a:ext cx="111556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EEF2F8"/>
                </a:solidFill>
                <a:latin typeface="Aptos"/>
              </a:rPr>
              <a:t>Co</a:t>
            </a:r>
            <a:r>
              <a:rPr lang="en-US" sz="2800" b="1" dirty="0">
                <a:solidFill>
                  <a:srgbClr val="EEF2F8"/>
                </a:solidFill>
                <a:latin typeface="Aptos"/>
              </a:rPr>
              <a:t>untry</a:t>
            </a:r>
            <a:r>
              <a:rPr sz="2800" b="1" dirty="0">
                <a:solidFill>
                  <a:srgbClr val="EEF2F8"/>
                </a:solidFill>
                <a:latin typeface="Aptos"/>
              </a:rPr>
              <a:t>-wise Layoffs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7178F9-0F93-2639-FA66-CD69925D6333}"/>
              </a:ext>
            </a:extLst>
          </p:cNvPr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11F1A-DC04-33E4-46B5-DED51D7A6B05}"/>
              </a:ext>
            </a:extLst>
          </p:cNvPr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DB575-6965-FFFE-15D1-52CD859249F2}"/>
              </a:ext>
            </a:extLst>
          </p:cNvPr>
          <p:cNvSpPr txBox="1"/>
          <p:nvPr/>
        </p:nvSpPr>
        <p:spPr>
          <a:xfrm>
            <a:off x="640080" y="1481328"/>
            <a:ext cx="53035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EF2F8"/>
                </a:solidFill>
                <a:latin typeface="Aptos"/>
              </a:rPr>
              <a:t>Which co</a:t>
            </a:r>
            <a:r>
              <a:rPr lang="en-US" sz="2000" b="1" dirty="0">
                <a:solidFill>
                  <a:srgbClr val="EEF2F8"/>
                </a:solidFill>
                <a:latin typeface="Aptos"/>
              </a:rPr>
              <a:t>untry</a:t>
            </a:r>
            <a:r>
              <a:rPr sz="2000" b="1" dirty="0">
                <a:solidFill>
                  <a:srgbClr val="EEF2F8"/>
                </a:solidFill>
                <a:latin typeface="Aptos"/>
              </a:rPr>
              <a:t> recorded the highest total layoffs?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17195B-839B-2538-95DB-1308890CCA42}"/>
              </a:ext>
            </a:extLst>
          </p:cNvPr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</a:p>
          <a:p>
            <a:r>
              <a:rPr lang="en-US" dirty="0"/>
              <a:t>country, </a:t>
            </a:r>
          </a:p>
          <a:p>
            <a:r>
              <a:rPr lang="en-US" dirty="0"/>
              <a:t>sum(</a:t>
            </a:r>
            <a:r>
              <a:rPr lang="en-US" dirty="0" err="1"/>
              <a:t>total_laid_off</a:t>
            </a:r>
            <a:r>
              <a:rPr lang="en-US" dirty="0"/>
              <a:t>) as </a:t>
            </a:r>
            <a:r>
              <a:rPr lang="en-US" dirty="0" err="1"/>
              <a:t>total_layoffsfrom</a:t>
            </a:r>
            <a:r>
              <a:rPr lang="en-US" dirty="0"/>
              <a:t> layoffs2</a:t>
            </a:r>
          </a:p>
          <a:p>
            <a:r>
              <a:rPr lang="en-US" dirty="0"/>
              <a:t>group by country</a:t>
            </a:r>
          </a:p>
          <a:p>
            <a:r>
              <a:rPr lang="en-US" dirty="0"/>
              <a:t>order by sum(</a:t>
            </a:r>
            <a:r>
              <a:rPr lang="en-US" dirty="0" err="1"/>
              <a:t>total_laid_off</a:t>
            </a:r>
            <a:r>
              <a:rPr lang="en-US" dirty="0"/>
              <a:t>) desc</a:t>
            </a:r>
          </a:p>
          <a:p>
            <a:r>
              <a:rPr lang="en-US" dirty="0"/>
              <a:t>limit 5;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6D26C-435D-7444-5F37-1EC0B3395A34}"/>
              </a:ext>
            </a:extLst>
          </p:cNvPr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61F251-239C-AD22-FE23-98FF1759AE25}"/>
              </a:ext>
            </a:extLst>
          </p:cNvPr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5CED5B-4512-AB07-29C9-22050FB56D14}"/>
              </a:ext>
            </a:extLst>
          </p:cNvPr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AFB119-FC47-0BA0-4601-C5678EFC5832}"/>
              </a:ext>
            </a:extLst>
          </p:cNvPr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7C0980-5F62-F6E1-20E8-DAA3E336495D}"/>
              </a:ext>
            </a:extLst>
          </p:cNvPr>
          <p:cNvSpPr txBox="1"/>
          <p:nvPr/>
        </p:nvSpPr>
        <p:spPr>
          <a:xfrm>
            <a:off x="6629400" y="5413248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EEF2F8"/>
                </a:solidFill>
                <a:latin typeface="Aptos"/>
              </a:rPr>
              <a:t>United States</a:t>
            </a:r>
            <a:r>
              <a:rPr sz="1400" b="0" dirty="0">
                <a:solidFill>
                  <a:srgbClr val="EEF2F8"/>
                </a:solidFill>
                <a:latin typeface="Aptos"/>
              </a:rPr>
              <a:t> ranked #1 with </a:t>
            </a:r>
            <a:r>
              <a:rPr lang="en-US" sz="1400" dirty="0">
                <a:solidFill>
                  <a:srgbClr val="EEF2F8"/>
                </a:solidFill>
                <a:latin typeface="Aptos"/>
              </a:rPr>
              <a:t>372215 </a:t>
            </a:r>
            <a:r>
              <a:rPr sz="1400" b="0" dirty="0">
                <a:solidFill>
                  <a:srgbClr val="EEF2F8"/>
                </a:solidFill>
                <a:latin typeface="Aptos"/>
              </a:rPr>
              <a:t>layoffs, followed by </a:t>
            </a:r>
            <a:r>
              <a:rPr lang="en-US" sz="1400" dirty="0">
                <a:solidFill>
                  <a:srgbClr val="EEF2F8"/>
                </a:solidFill>
                <a:latin typeface="Aptos"/>
              </a:rPr>
              <a:t>India, Netherlands, United Kingdom and Brazil.</a:t>
            </a:r>
            <a:endParaRPr sz="1400" b="0" dirty="0">
              <a:solidFill>
                <a:srgbClr val="EEF2F8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C3BB9-5426-CF88-CBBA-BBD4ACDF65C9}"/>
              </a:ext>
            </a:extLst>
          </p:cNvPr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201D89-5A96-DC99-0A3D-E6E96EA1DD82}"/>
              </a:ext>
            </a:extLst>
          </p:cNvPr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0FA00A-5B1D-AE0A-93F6-8D64111D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059" y="1587933"/>
            <a:ext cx="4698693" cy="299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2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Industry-wise Layoffs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Which industries were most affected by layoffs?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EF2F8"/>
                </a:solidFill>
                <a:latin typeface="Consolas"/>
              </a:rPr>
              <a:t>SELECT industry,
       SUM(total_laid_off) AS total_layoffs
FROM layoffs2
GROUP BY industry
ORDER BY SUM(total_laid_off) DESC
LIMIT 5;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Retail was the most affected industry with 57,596 layoffs, followed by Consumer with 52,055.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63F217-A8D1-752D-0F49-284AD0F1D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426" y="1481328"/>
            <a:ext cx="4603328" cy="31546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Stage-wise Layoffs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At which company stage were the most layoffs recorded?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EF2F8"/>
                </a:solidFill>
                <a:latin typeface="Consolas"/>
              </a:rPr>
              <a:t>SELECT stage,
       SUM(total_laid_off) AS total_layoffs
FROM layoffs2
GROUP BY stage
ORDER BY SUM(total_laid_off) DESC
LIMIT 5;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Post-IPO companies recorded the highest layoffs in the dataset (230,439).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09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00B4C1-53C9-15D0-0AA8-5FA083EC8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86701"/>
            <a:ext cx="4721353" cy="3149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Funding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Which companies had the highest funding raised?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EF2F8"/>
                </a:solidFill>
                <a:latin typeface="Consolas"/>
              </a:rPr>
              <a:t>SELECT DISTINCT company,
       funds_raised_millions,
       DENSE_RANK() OVER (
         ORDER BY funds_raised_millions DESC
       ) AS rnk
FROM layoffs2;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5020056" cy="33741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High funding did not guarantee workforce stability; heavily funded companies still experienced major layoffs.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Top Companies by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Who were the top 5 companies by layoffs in each year?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EF2F8"/>
                </a:solidFill>
                <a:latin typeface="Consolas"/>
              </a:rPr>
              <a:t>WITH com_layoff AS (
  SELECT company,
         EXTRACT(YEAR FROM date) AS years,
         SUM(total_laid_off) AS total
  FROM layoffs2
  GROUP BY company, EXTRACT(YEAR FROM date)
)
SELECT company, total, years,
       DENSE_RANK() OVER (
         PARTITION BY years ORDER BY total DESC
       ) AS rnk
FROM com_layoff;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5020056" cy="33741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Google led layoffs in 2023; the leading companies changed across years.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Layoff Bucket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How can companies be classified into Low, Medium and High layoff groups?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EF2F8"/>
                </a:solidFill>
                <a:latin typeface="Consolas"/>
              </a:rPr>
              <a:t>SELECT company,
       EXTRACT(YEAR FROM date) AS years,
       SUM(total_laid_off) AS total,
       CASE
         WHEN SUM(total_laid_off) &gt;= 10000 THEN 'High'
         WHEN SUM(total_laid_off) &gt;= 5000 THEN 'Medium'
         ELSE 'Low'
       END AS Layoff_bucket
FROM layoffs2
GROUP BY company, EXTRACT(YEAR FROM date);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5020056" cy="33741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CASE WHEN converts raw totals into three easy-to-interpret business buckets.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Running Total &amp;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EF2F8"/>
                </a:solidFill>
                <a:latin typeface="Aptos"/>
              </a:rPr>
              <a:t>How do cumulative layoffs and average layoffs evolve within each year?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>
                <a:solidFill>
                  <a:srgbClr val="EEF2F8"/>
                </a:solidFill>
                <a:latin typeface="Consolas"/>
              </a:rPr>
              <a:t>WITH running_total_avg AS (
  SELECT company,
         EXTRACT(YEAR FROM date) AS years,
         SUM(total_laid_off) AS total
  FROM layoffs2
  GROUP BY company, EXTRACT(YEAR FROM date)
)
SELECT company, years, total,
       SUM(total) OVER (
         PARTITION BY years
         ROWS BETWEEN UNBOUNDED PRECEDING AND CURRENT ROW
       ) AS running_totals,
       AVG(total) OVER (
         PARTITION BY years
         ROWS BETWEEN UNBOUNDED PRECEDING AND CURRENT ROW
       ) AS running_average
FROM running_total_avg;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1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5020056" cy="33741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8"/>
                </a:solidFill>
                <a:latin typeface="Aptos"/>
              </a:rPr>
              <a:t>Window functions provide cumulative totals and running averages without collapsing the underlying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Maximum Layoffs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9B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035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EF2F8"/>
                </a:solidFill>
                <a:latin typeface="Aptos"/>
              </a:rPr>
              <a:t>What are the largest single layoff events by company and date?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40680" cy="2423160"/>
          </a:xfrm>
          <a:prstGeom prst="roundRect">
            <a:avLst/>
          </a:prstGeom>
          <a:solidFill>
            <a:srgbClr val="0C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5038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9BFF"/>
                </a:solidFill>
                <a:latin typeface="Aptos"/>
              </a:rPr>
              <a:t>SQL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5038344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EEF2F8"/>
                </a:solidFill>
                <a:latin typeface="Consolas"/>
              </a:rPr>
              <a:t>SELECT company,
       MAX(</a:t>
            </a:r>
            <a:r>
              <a:rPr sz="1100" dirty="0" err="1">
                <a:solidFill>
                  <a:srgbClr val="EEF2F8"/>
                </a:solidFill>
                <a:latin typeface="Consolas"/>
              </a:rPr>
              <a:t>total_laid_off</a:t>
            </a:r>
            <a:r>
              <a:rPr sz="1100" dirty="0">
                <a:solidFill>
                  <a:srgbClr val="EEF2F8"/>
                </a:solidFill>
                <a:latin typeface="Consolas"/>
              </a:rPr>
              <a:t>),
       MAX(</a:t>
            </a:r>
            <a:r>
              <a:rPr sz="1100" dirty="0" err="1">
                <a:solidFill>
                  <a:srgbClr val="EEF2F8"/>
                </a:solidFill>
                <a:latin typeface="Consolas"/>
              </a:rPr>
              <a:t>percentage_laid_off</a:t>
            </a:r>
            <a:r>
              <a:rPr sz="1100" dirty="0">
                <a:solidFill>
                  <a:srgbClr val="EEF2F8"/>
                </a:solidFill>
                <a:latin typeface="Consolas"/>
              </a:rPr>
              <a:t>),
       date
FROM layoffs2
GROUP BY company, date
ORDER BY MAX(</a:t>
            </a:r>
            <a:r>
              <a:rPr sz="1100" dirty="0" err="1">
                <a:solidFill>
                  <a:srgbClr val="EEF2F8"/>
                </a:solidFill>
                <a:latin typeface="Consolas"/>
              </a:rPr>
              <a:t>total_laid_off</a:t>
            </a:r>
            <a:r>
              <a:rPr sz="1100" dirty="0">
                <a:solidFill>
                  <a:srgbClr val="EEF2F8"/>
                </a:solidFill>
                <a:latin typeface="Consolas"/>
              </a:rPr>
              <a:t>) DESC,
         MAX(</a:t>
            </a:r>
            <a:r>
              <a:rPr sz="1100" dirty="0" err="1">
                <a:solidFill>
                  <a:srgbClr val="EEF2F8"/>
                </a:solidFill>
                <a:latin typeface="Consolas"/>
              </a:rPr>
              <a:t>percentage_laid_off</a:t>
            </a:r>
            <a:r>
              <a:rPr sz="1100" dirty="0">
                <a:solidFill>
                  <a:srgbClr val="EEF2F8"/>
                </a:solidFill>
                <a:latin typeface="Consolas"/>
              </a:rPr>
              <a:t>) DESC;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166360" cy="3520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4983480"/>
            <a:ext cx="5166360" cy="123444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5148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C991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13248"/>
            <a:ext cx="46177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EEF2F8"/>
                </a:solidFill>
                <a:latin typeface="Aptos"/>
              </a:rPr>
              <a:t>The analysis highlights the largest individual layoff events, including Google's 12,000 layoffs in 2023</a:t>
            </a:r>
            <a:r>
              <a:rPr lang="en-US" sz="1400" b="0" dirty="0">
                <a:solidFill>
                  <a:srgbClr val="EEF2F8"/>
                </a:solidFill>
                <a:latin typeface="Aptos"/>
              </a:rPr>
              <a:t> with a percentage of 0.06</a:t>
            </a:r>
            <a:r>
              <a:rPr sz="1400" b="0" dirty="0">
                <a:solidFill>
                  <a:srgbClr val="EEF2F8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7CE194-7DB1-D70C-576D-C3F33D811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008" y="1481327"/>
            <a:ext cx="4536112" cy="30415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Key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89611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EC0"/>
                </a:solidFill>
                <a:latin typeface="Aptos"/>
              </a:rPr>
              <a:t>The strongest findings from the 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72800" cy="507492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1307592"/>
            <a:ext cx="10826496" cy="4928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7150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49B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65099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EF2F8"/>
                </a:solidFill>
                <a:latin typeface="Aptos"/>
              </a:rPr>
              <a:t>Amazon led total layoffs • US had the largest country-level impact • Retail was the most affected 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EF2F8"/>
                </a:solidFill>
                <a:latin typeface="Aptos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960120" cy="41148"/>
          </a:xfrm>
          <a:prstGeom prst="rect">
            <a:avLst/>
          </a:prstGeom>
          <a:solidFill>
            <a:srgbClr val="5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00200" y="89611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EC0"/>
                </a:solidFill>
                <a:latin typeface="Aptos"/>
              </a:rPr>
              <a:t>Turn the SQL analysis into a broader analytics portfolio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356616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49B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EF2F8"/>
                </a:solidFill>
                <a:latin typeface="Aptos"/>
              </a:rPr>
              <a:t>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AEC0"/>
                </a:solidFill>
                <a:latin typeface="Aptos"/>
              </a:rPr>
              <a:t>Build an interactive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383280" cy="356616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CC99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EF2F8"/>
                </a:solidFill>
                <a:latin typeface="Aptos"/>
              </a:rPr>
              <a:t>Python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6324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AEC0"/>
                </a:solidFill>
                <a:latin typeface="Aptos"/>
              </a:rPr>
              <a:t>Add deeper statistical exploration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08760"/>
            <a:ext cx="3383280" cy="356616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636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EF2F8"/>
                </a:solidFill>
                <a:latin typeface="Aptos"/>
              </a:rPr>
              <a:t>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AEC0"/>
                </a:solidFill>
                <a:latin typeface="Aptos"/>
              </a:rPr>
              <a:t>Create interactive charts and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943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EF2F8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49BFF"/>
                </a:solidFill>
                <a:latin typeface="Aptos"/>
              </a:rPr>
              <a:t>World Layoffs Analysis using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4AEC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280160"/>
            <a:ext cx="4297680" cy="3383280"/>
          </a:xfrm>
          <a:prstGeom prst="roundRect">
            <a:avLst/>
          </a:prstGeom>
          <a:solidFill>
            <a:srgbClr val="1D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EF2F8"/>
                </a:solidFill>
                <a:latin typeface="Aptos"/>
              </a:rPr>
              <a:t>Portfolio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331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AEC0"/>
                </a:solidFill>
                <a:latin typeface="Aptos"/>
              </a:rPr>
              <a:t>GitHub: Add repository link
LinkedIn: Add profile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064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EF2F8"/>
                </a:solidFill>
                <a:latin typeface="Aptos"/>
              </a:rPr>
              <a:t>Prepared by Kunal Kashyap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AEC0"/>
                </a:solidFill>
                <a:latin typeface="Aptos"/>
              </a:rPr>
              <a:t>World Layoffs Analysis • SQL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AE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1343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kashyap</cp:lastModifiedBy>
  <cp:revision>3</cp:revision>
  <dcterms:created xsi:type="dcterms:W3CDTF">2013-01-27T09:14:16Z</dcterms:created>
  <dcterms:modified xsi:type="dcterms:W3CDTF">2026-09-08T10:02:19Z</dcterms:modified>
  <cp:category/>
</cp:coreProperties>
</file>